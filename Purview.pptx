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Fabric and Purview are both Microsoft products and are integrated natively: Purview can scan the whole Fabric tenant, show lineage, and apply Microsoft Information Protection sensitivity labels that Fabric items inherit downstream (e.g. into Excel/PowerPoint exports). Fabric's own OneLake catalog covers day-to-day discovery for Fabric users. Position Purview as the enterprise layer: DLP, data quality, business glossary, audit and coverage of non-Fabric sources. Validate current feature status (GA vs preview) in Microsoft docs before the client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Databricks architecture, Unity Catalog is the system of record for technical governance: permissions, row/column controls, lineage and audit are enforced there. Purview connects through its Azure Databricks Unity Catalog connector to harvest metadata and lineage into the enterprise catalog, but it does not push access policies back into Databricks. Purview earns its place when the client needs one business-facing catalog, glossary and ownership model spanning Databricks, Power BI, SQL and other sources, or ties to Microsoft 365 compliance. Validate current connector capabilities in Microsoft 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Snowflake, security and compliance controls (dynamic masking, row access policies, object tagging, access history) are enforced natively through Snowflake Horizon. Purview's Snowflake connector brings metadata and lineage into the Microsoft catalog, so the client gets one view across Snowflake, Azure sources and Power BI, but Purview does not enforce policies inside Snowflake. Recommend Purview when the estate is hybrid (Snowflake plus Azure / Microsoft 365) or when a single enterprise catalog and glossary is a requirement. Validate current connector capabilities in Microsoft 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5F2"/>
        </a:solidFill>
      </p:bgPr>
    </p:bg>
    <p:spTree>
      <p:nvGrpSpPr>
        <p:cNvPr id="1" name=""/>
        <p:cNvGrpSpPr/>
        <p:nvPr/>
      </p:nvGrpSpPr>
      <p:grpSpPr>
        <a:xfrm>
          <a:off x="0" y="0"/>
          <a:ext cx="0" cy="0"/>
          <a:chOff x="0" y="0"/>
          <a:chExt cx="0" cy="0"/>
        </a:xfrm>
      </p:grpSpPr>
      <p:sp>
        <p:nvSpPr>
          <p:cNvPr id="2" name="Shape 0"/>
          <p:cNvSpPr/>
          <p:nvPr/>
        </p:nvSpPr>
        <p:spPr>
          <a:xfrm>
            <a:off x="0" y="0"/>
            <a:ext cx="12192000" cy="101600"/>
          </a:xfrm>
          <a:prstGeom prst="rect">
            <a:avLst/>
          </a:prstGeom>
          <a:solidFill>
            <a:srgbClr val="F26522"/>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0C"/>
                </a:solidFill>
                <a:latin typeface="Poppins" pitchFamily="34" charset="0"/>
                <a:ea typeface="Poppins" pitchFamily="34" charset="-122"/>
                <a:cs typeface="Poppins" pitchFamily="34" charset="-120"/>
              </a:rPr>
              <a:t>01 · MICROSOFT FABRIC</a:t>
            </a:r>
            <a:endParaRPr lang="en-US" sz="1200" dirty="0"/>
          </a:p>
        </p:txBody>
      </p:sp>
      <p:sp>
        <p:nvSpPr>
          <p:cNvPr id="4" name="Text 2"/>
          <p:cNvSpPr/>
          <p:nvPr/>
        </p:nvSpPr>
        <p:spPr>
          <a:xfrm>
            <a:off x="812800" y="11023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C1E23"/>
                </a:solidFill>
                <a:latin typeface="Poppins" pitchFamily="34" charset="0"/>
                <a:ea typeface="Poppins" pitchFamily="34" charset="-122"/>
                <a:cs typeface="Poppins" pitchFamily="34" charset="-120"/>
              </a:rPr>
              <a:t>Fabric: Purview is already wired in</a:t>
            </a:r>
            <a:endParaRPr lang="en-US" sz="2800" dirty="0"/>
          </a:p>
        </p:txBody>
      </p:sp>
      <p:sp>
        <p:nvSpPr>
          <p:cNvPr id="5" name="Shape 3"/>
          <p:cNvSpPr/>
          <p:nvPr/>
        </p:nvSpPr>
        <p:spPr>
          <a:xfrm>
            <a:off x="812800" y="1747441"/>
            <a:ext cx="6350000" cy="960041"/>
          </a:xfrm>
          <a:prstGeom prst="roundRect">
            <a:avLst>
              <a:gd name="adj" fmla="val 7937"/>
            </a:avLst>
          </a:prstGeom>
          <a:solidFill>
            <a:srgbClr val="1C1E23"/>
          </a:solidFill>
          <a:ln/>
        </p:spPr>
      </p:sp>
      <p:sp>
        <p:nvSpPr>
          <p:cNvPr id="6" name="Text 4"/>
          <p:cNvSpPr/>
          <p:nvPr/>
        </p:nvSpPr>
        <p:spPr>
          <a:xfrm>
            <a:off x="990600" y="1925241"/>
            <a:ext cx="617423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7F5F2"/>
                </a:solidFill>
                <a:latin typeface="Poppins" pitchFamily="34" charset="0"/>
                <a:ea typeface="Poppins" pitchFamily="34" charset="-122"/>
                <a:cs typeface="Poppins" pitchFamily="34" charset="-120"/>
              </a:rPr>
              <a:t>Microsoft Purview </a:t>
            </a:r>
            <a:r>
              <a:rPr lang="en-US" sz="1400" b="1" dirty="0">
                <a:solidFill>
                  <a:srgbClr val="F26522"/>
                </a:solidFill>
                <a:latin typeface="Poppins" pitchFamily="34" charset="0"/>
                <a:ea typeface="Poppins" pitchFamily="34" charset="-122"/>
                <a:cs typeface="Poppins" pitchFamily="34" charset="-120"/>
              </a:rPr>
              <a:t>· governance layer</a:t>
            </a:r>
            <a:endParaRPr lang="en-US" sz="1400" dirty="0"/>
          </a:p>
        </p:txBody>
      </p:sp>
      <p:sp>
        <p:nvSpPr>
          <p:cNvPr id="7" name="Shape 5"/>
          <p:cNvSpPr/>
          <p:nvPr/>
        </p:nvSpPr>
        <p:spPr>
          <a:xfrm>
            <a:off x="990600" y="2240161"/>
            <a:ext cx="1448098" cy="289520"/>
          </a:xfrm>
          <a:prstGeom prst="roundRect">
            <a:avLst>
              <a:gd name="adj" fmla="val 50000"/>
            </a:avLst>
          </a:prstGeom>
          <a:solidFill>
            <a:srgbClr val="F26522"/>
          </a:solidFill>
          <a:ln/>
        </p:spPr>
      </p:sp>
      <p:sp>
        <p:nvSpPr>
          <p:cNvPr id="8" name="Text 6"/>
          <p:cNvSpPr/>
          <p:nvPr/>
        </p:nvSpPr>
        <p:spPr>
          <a:xfrm>
            <a:off x="1117600" y="2278261"/>
            <a:ext cx="12448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1E23"/>
                </a:solidFill>
                <a:latin typeface="Poppins" pitchFamily="34" charset="0"/>
                <a:ea typeface="Poppins" pitchFamily="34" charset="-122"/>
                <a:cs typeface="Poppins" pitchFamily="34" charset="-120"/>
              </a:rPr>
              <a:t>Unified Catalog</a:t>
            </a:r>
            <a:endParaRPr lang="en-US" sz="1200" dirty="0"/>
          </a:p>
        </p:txBody>
      </p:sp>
      <p:sp>
        <p:nvSpPr>
          <p:cNvPr id="9" name="Shape 7"/>
          <p:cNvSpPr/>
          <p:nvPr/>
        </p:nvSpPr>
        <p:spPr>
          <a:xfrm>
            <a:off x="2514898" y="2240161"/>
            <a:ext cx="1533128" cy="289520"/>
          </a:xfrm>
          <a:prstGeom prst="roundRect">
            <a:avLst>
              <a:gd name="adj" fmla="val 50000"/>
            </a:avLst>
          </a:prstGeom>
          <a:solidFill>
            <a:srgbClr val="F26522"/>
          </a:solidFill>
          <a:ln/>
        </p:spPr>
      </p:sp>
      <p:sp>
        <p:nvSpPr>
          <p:cNvPr id="10" name="Text 8"/>
          <p:cNvSpPr/>
          <p:nvPr/>
        </p:nvSpPr>
        <p:spPr>
          <a:xfrm>
            <a:off x="2641898" y="2278261"/>
            <a:ext cx="13299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1E23"/>
                </a:solidFill>
                <a:latin typeface="Poppins" pitchFamily="34" charset="0"/>
                <a:ea typeface="Poppins" pitchFamily="34" charset="-122"/>
                <a:cs typeface="Poppins" pitchFamily="34" charset="-120"/>
              </a:rPr>
              <a:t>Sensitivity labels</a:t>
            </a:r>
            <a:endParaRPr lang="en-US" sz="1200" dirty="0"/>
          </a:p>
        </p:txBody>
      </p:sp>
      <p:sp>
        <p:nvSpPr>
          <p:cNvPr id="11" name="Shape 9"/>
          <p:cNvSpPr/>
          <p:nvPr/>
        </p:nvSpPr>
        <p:spPr>
          <a:xfrm>
            <a:off x="4124226" y="2240161"/>
            <a:ext cx="520402" cy="289520"/>
          </a:xfrm>
          <a:prstGeom prst="roundRect">
            <a:avLst>
              <a:gd name="adj" fmla="val 50000"/>
            </a:avLst>
          </a:prstGeom>
          <a:solidFill>
            <a:srgbClr val="F26522"/>
          </a:solidFill>
          <a:ln/>
        </p:spPr>
      </p:sp>
      <p:sp>
        <p:nvSpPr>
          <p:cNvPr id="12" name="Text 10"/>
          <p:cNvSpPr/>
          <p:nvPr/>
        </p:nvSpPr>
        <p:spPr>
          <a:xfrm>
            <a:off x="4251226" y="2278261"/>
            <a:ext cx="31720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1E23"/>
                </a:solidFill>
                <a:latin typeface="Poppins" pitchFamily="34" charset="0"/>
                <a:ea typeface="Poppins" pitchFamily="34" charset="-122"/>
                <a:cs typeface="Poppins" pitchFamily="34" charset="-120"/>
              </a:rPr>
              <a:t>DLP</a:t>
            </a:r>
            <a:endParaRPr lang="en-US" sz="1200" dirty="0"/>
          </a:p>
        </p:txBody>
      </p:sp>
      <p:sp>
        <p:nvSpPr>
          <p:cNvPr id="13" name="Shape 11"/>
          <p:cNvSpPr/>
          <p:nvPr/>
        </p:nvSpPr>
        <p:spPr>
          <a:xfrm>
            <a:off x="4720828" y="2240161"/>
            <a:ext cx="1196479" cy="289520"/>
          </a:xfrm>
          <a:prstGeom prst="roundRect">
            <a:avLst>
              <a:gd name="adj" fmla="val 50000"/>
            </a:avLst>
          </a:prstGeom>
          <a:solidFill>
            <a:srgbClr val="F26522"/>
          </a:solidFill>
          <a:ln/>
        </p:spPr>
      </p:sp>
      <p:sp>
        <p:nvSpPr>
          <p:cNvPr id="14" name="Text 12"/>
          <p:cNvSpPr/>
          <p:nvPr/>
        </p:nvSpPr>
        <p:spPr>
          <a:xfrm>
            <a:off x="4847828" y="2278261"/>
            <a:ext cx="9932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1E23"/>
                </a:solidFill>
                <a:latin typeface="Poppins" pitchFamily="34" charset="0"/>
                <a:ea typeface="Poppins" pitchFamily="34" charset="-122"/>
                <a:cs typeface="Poppins" pitchFamily="34" charset="-120"/>
              </a:rPr>
              <a:t>Data quality</a:t>
            </a:r>
            <a:endParaRPr lang="en-US" sz="1200" dirty="0"/>
          </a:p>
        </p:txBody>
      </p:sp>
      <p:sp>
        <p:nvSpPr>
          <p:cNvPr id="15" name="Text 13"/>
          <p:cNvSpPr/>
          <p:nvPr/>
        </p:nvSpPr>
        <p:spPr>
          <a:xfrm>
            <a:off x="812800" y="2834481"/>
            <a:ext cx="65405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20C"/>
                </a:solidFill>
                <a:latin typeface="Poppins" pitchFamily="34" charset="0"/>
                <a:ea typeface="Poppins" pitchFamily="34" charset="-122"/>
                <a:cs typeface="Poppins" pitchFamily="34" charset="-120"/>
              </a:rPr>
              <a:t>▲ Native: automatic tenant scan · live lineage · label inheritance</a:t>
            </a:r>
            <a:endParaRPr lang="en-US" sz="1200" dirty="0"/>
          </a:p>
        </p:txBody>
      </p:sp>
      <p:sp>
        <p:nvSpPr>
          <p:cNvPr id="16" name="Shape 14"/>
          <p:cNvSpPr/>
          <p:nvPr/>
        </p:nvSpPr>
        <p:spPr>
          <a:xfrm>
            <a:off x="815975" y="3177977"/>
            <a:ext cx="1349375" cy="1103511"/>
          </a:xfrm>
          <a:prstGeom prst="roundRect">
            <a:avLst>
              <a:gd name="adj" fmla="val 6618"/>
            </a:avLst>
          </a:prstGeom>
          <a:solidFill>
            <a:srgbClr val="FFFFFF"/>
          </a:solidFill>
          <a:ln w="6350">
            <a:solidFill>
              <a:srgbClr val="E4E0DA"/>
            </a:solidFill>
            <a:prstDash val="solid"/>
          </a:ln>
        </p:spPr>
      </p:sp>
      <p:sp>
        <p:nvSpPr>
          <p:cNvPr id="17" name="Text 15"/>
          <p:cNvSpPr/>
          <p:nvPr/>
        </p:nvSpPr>
        <p:spPr>
          <a:xfrm>
            <a:off x="920750" y="3308152"/>
            <a:ext cx="1190625"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C1E23"/>
                </a:solidFill>
                <a:latin typeface="Poppins" pitchFamily="34" charset="0"/>
                <a:ea typeface="Poppins" pitchFamily="34" charset="-122"/>
                <a:cs typeface="Poppins" pitchFamily="34" charset="-120"/>
              </a:rPr>
              <a:t>Sources</a:t>
            </a:r>
            <a:endParaRPr lang="en-US" sz="1300" dirty="0"/>
          </a:p>
        </p:txBody>
      </p:sp>
      <p:sp>
        <p:nvSpPr>
          <p:cNvPr id="18" name="Text 16"/>
          <p:cNvSpPr/>
          <p:nvPr/>
        </p:nvSpPr>
        <p:spPr>
          <a:xfrm>
            <a:off x="920750" y="3557042"/>
            <a:ext cx="1190625"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A5F68"/>
                </a:solidFill>
                <a:latin typeface="Poppins" pitchFamily="34" charset="0"/>
                <a:ea typeface="Poppins" pitchFamily="34" charset="-122"/>
                <a:cs typeface="Poppins" pitchFamily="34" charset="-120"/>
              </a:rPr>
              <a:t>On-prem, SaaS, cloud DBs</a:t>
            </a:r>
            <a:endParaRPr lang="en-US" sz="1200" dirty="0"/>
          </a:p>
        </p:txBody>
      </p:sp>
      <p:sp>
        <p:nvSpPr>
          <p:cNvPr id="19" name="Text 17"/>
          <p:cNvSpPr/>
          <p:nvPr/>
        </p:nvSpPr>
        <p:spPr>
          <a:xfrm>
            <a:off x="2219325" y="3587502"/>
            <a:ext cx="2540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26522"/>
                </a:solidFill>
                <a:latin typeface="Poppins" pitchFamily="34" charset="0"/>
                <a:ea typeface="Poppins" pitchFamily="34" charset="-122"/>
                <a:cs typeface="Poppins" pitchFamily="34" charset="-120"/>
              </a:rPr>
              <a:t>→</a:t>
            </a:r>
            <a:endParaRPr lang="en-US" sz="1600" dirty="0"/>
          </a:p>
        </p:txBody>
      </p:sp>
      <p:sp>
        <p:nvSpPr>
          <p:cNvPr id="20" name="Shape 18"/>
          <p:cNvSpPr/>
          <p:nvPr/>
        </p:nvSpPr>
        <p:spPr>
          <a:xfrm>
            <a:off x="2476500" y="3177977"/>
            <a:ext cx="1349375" cy="1103511"/>
          </a:xfrm>
          <a:prstGeom prst="roundRect">
            <a:avLst>
              <a:gd name="adj" fmla="val 6618"/>
            </a:avLst>
          </a:prstGeom>
          <a:solidFill>
            <a:srgbClr val="FFFFFF"/>
          </a:solidFill>
          <a:ln w="6350">
            <a:solidFill>
              <a:srgbClr val="E4E0DA"/>
            </a:solidFill>
            <a:prstDash val="solid"/>
          </a:ln>
        </p:spPr>
      </p:sp>
      <p:sp>
        <p:nvSpPr>
          <p:cNvPr id="21" name="Text 19"/>
          <p:cNvSpPr/>
          <p:nvPr/>
        </p:nvSpPr>
        <p:spPr>
          <a:xfrm>
            <a:off x="2581275" y="3308152"/>
            <a:ext cx="1190625"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C1E23"/>
                </a:solidFill>
                <a:latin typeface="Poppins" pitchFamily="34" charset="0"/>
                <a:ea typeface="Poppins" pitchFamily="34" charset="-122"/>
                <a:cs typeface="Poppins" pitchFamily="34" charset="-120"/>
              </a:rPr>
              <a:t>Ingest</a:t>
            </a:r>
            <a:endParaRPr lang="en-US" sz="1300" dirty="0"/>
          </a:p>
        </p:txBody>
      </p:sp>
      <p:sp>
        <p:nvSpPr>
          <p:cNvPr id="22" name="Text 20"/>
          <p:cNvSpPr/>
          <p:nvPr/>
        </p:nvSpPr>
        <p:spPr>
          <a:xfrm>
            <a:off x="2581275" y="3557042"/>
            <a:ext cx="1190625"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A5F68"/>
                </a:solidFill>
                <a:latin typeface="Poppins" pitchFamily="34" charset="0"/>
                <a:ea typeface="Poppins" pitchFamily="34" charset="-122"/>
                <a:cs typeface="Poppins" pitchFamily="34" charset="-120"/>
              </a:rPr>
              <a:t>Data Factory, Mirroring</a:t>
            </a:r>
            <a:endParaRPr lang="en-US" sz="1200" dirty="0"/>
          </a:p>
        </p:txBody>
      </p:sp>
      <p:sp>
        <p:nvSpPr>
          <p:cNvPr id="23" name="Text 21"/>
          <p:cNvSpPr/>
          <p:nvPr/>
        </p:nvSpPr>
        <p:spPr>
          <a:xfrm>
            <a:off x="3879850" y="3587502"/>
            <a:ext cx="2540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26522"/>
                </a:solidFill>
                <a:latin typeface="Poppins" pitchFamily="34" charset="0"/>
                <a:ea typeface="Poppins" pitchFamily="34" charset="-122"/>
                <a:cs typeface="Poppins" pitchFamily="34" charset="-120"/>
              </a:rPr>
              <a:t>→</a:t>
            </a:r>
            <a:endParaRPr lang="en-US" sz="1600" dirty="0"/>
          </a:p>
        </p:txBody>
      </p:sp>
      <p:sp>
        <p:nvSpPr>
          <p:cNvPr id="24" name="Shape 22"/>
          <p:cNvSpPr/>
          <p:nvPr/>
        </p:nvSpPr>
        <p:spPr>
          <a:xfrm>
            <a:off x="4140200" y="3181152"/>
            <a:ext cx="1355725" cy="1097161"/>
          </a:xfrm>
          <a:prstGeom prst="roundRect">
            <a:avLst>
              <a:gd name="adj" fmla="val 6366"/>
            </a:avLst>
          </a:prstGeom>
          <a:solidFill>
            <a:srgbClr val="FDEBE1"/>
          </a:solidFill>
          <a:ln w="12700">
            <a:solidFill>
              <a:srgbClr val="F26522"/>
            </a:solidFill>
            <a:prstDash val="solid"/>
          </a:ln>
        </p:spPr>
      </p:sp>
      <p:sp>
        <p:nvSpPr>
          <p:cNvPr id="25" name="Text 23"/>
          <p:cNvSpPr/>
          <p:nvPr/>
        </p:nvSpPr>
        <p:spPr>
          <a:xfrm>
            <a:off x="4248150" y="3314502"/>
            <a:ext cx="1190625"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C1E23"/>
                </a:solidFill>
                <a:latin typeface="Poppins" pitchFamily="34" charset="0"/>
                <a:ea typeface="Poppins" pitchFamily="34" charset="-122"/>
                <a:cs typeface="Poppins" pitchFamily="34" charset="-120"/>
              </a:rPr>
              <a:t>OneLake</a:t>
            </a:r>
            <a:endParaRPr lang="en-US" sz="1300" dirty="0"/>
          </a:p>
        </p:txBody>
      </p:sp>
      <p:sp>
        <p:nvSpPr>
          <p:cNvPr id="26" name="Text 24"/>
          <p:cNvSpPr/>
          <p:nvPr/>
        </p:nvSpPr>
        <p:spPr>
          <a:xfrm>
            <a:off x="4248150" y="3563392"/>
            <a:ext cx="1190625"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C1E23"/>
                </a:solidFill>
                <a:latin typeface="Poppins" pitchFamily="34" charset="0"/>
                <a:ea typeface="Poppins" pitchFamily="34" charset="-122"/>
                <a:cs typeface="Poppins" pitchFamily="34" charset="-120"/>
              </a:rPr>
              <a:t>Lakehouse, Warehouse</a:t>
            </a:r>
            <a:endParaRPr lang="en-US" sz="1200" dirty="0"/>
          </a:p>
        </p:txBody>
      </p:sp>
      <p:sp>
        <p:nvSpPr>
          <p:cNvPr id="27" name="Text 25"/>
          <p:cNvSpPr/>
          <p:nvPr/>
        </p:nvSpPr>
        <p:spPr>
          <a:xfrm>
            <a:off x="5553075" y="3587502"/>
            <a:ext cx="2540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26522"/>
                </a:solidFill>
                <a:latin typeface="Poppins" pitchFamily="34" charset="0"/>
                <a:ea typeface="Poppins" pitchFamily="34" charset="-122"/>
                <a:cs typeface="Poppins" pitchFamily="34" charset="-120"/>
              </a:rPr>
              <a:t>→</a:t>
            </a:r>
            <a:endParaRPr lang="en-US" sz="1600" dirty="0"/>
          </a:p>
        </p:txBody>
      </p:sp>
      <p:sp>
        <p:nvSpPr>
          <p:cNvPr id="28" name="Shape 26"/>
          <p:cNvSpPr/>
          <p:nvPr/>
        </p:nvSpPr>
        <p:spPr>
          <a:xfrm>
            <a:off x="5810250" y="3177977"/>
            <a:ext cx="1349375" cy="1103511"/>
          </a:xfrm>
          <a:prstGeom prst="roundRect">
            <a:avLst>
              <a:gd name="adj" fmla="val 6618"/>
            </a:avLst>
          </a:prstGeom>
          <a:solidFill>
            <a:srgbClr val="FFFFFF"/>
          </a:solidFill>
          <a:ln w="6350">
            <a:solidFill>
              <a:srgbClr val="E4E0DA"/>
            </a:solidFill>
            <a:prstDash val="solid"/>
          </a:ln>
        </p:spPr>
      </p:sp>
      <p:sp>
        <p:nvSpPr>
          <p:cNvPr id="29" name="Text 27"/>
          <p:cNvSpPr/>
          <p:nvPr/>
        </p:nvSpPr>
        <p:spPr>
          <a:xfrm>
            <a:off x="5915025" y="3308152"/>
            <a:ext cx="1190625"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C1E23"/>
                </a:solidFill>
                <a:latin typeface="Poppins" pitchFamily="34" charset="0"/>
                <a:ea typeface="Poppins" pitchFamily="34" charset="-122"/>
                <a:cs typeface="Poppins" pitchFamily="34" charset="-120"/>
              </a:rPr>
              <a:t>Consume</a:t>
            </a:r>
            <a:endParaRPr lang="en-US" sz="1300" dirty="0"/>
          </a:p>
        </p:txBody>
      </p:sp>
      <p:sp>
        <p:nvSpPr>
          <p:cNvPr id="30" name="Text 28"/>
          <p:cNvSpPr/>
          <p:nvPr/>
        </p:nvSpPr>
        <p:spPr>
          <a:xfrm>
            <a:off x="5915025" y="3557042"/>
            <a:ext cx="1190625"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A5F68"/>
                </a:solidFill>
                <a:latin typeface="Poppins" pitchFamily="34" charset="0"/>
                <a:ea typeface="Poppins" pitchFamily="34" charset="-122"/>
                <a:cs typeface="Poppins" pitchFamily="34" charset="-120"/>
              </a:rPr>
              <a:t>Power BI, Copilot</a:t>
            </a:r>
            <a:endParaRPr lang="en-US" sz="1200" dirty="0"/>
          </a:p>
        </p:txBody>
      </p:sp>
      <p:sp>
        <p:nvSpPr>
          <p:cNvPr id="31" name="Shape 29"/>
          <p:cNvSpPr/>
          <p:nvPr/>
        </p:nvSpPr>
        <p:spPr>
          <a:xfrm>
            <a:off x="812800" y="4411663"/>
            <a:ext cx="6350000" cy="452090"/>
          </a:xfrm>
          <a:prstGeom prst="roundRect">
            <a:avLst>
              <a:gd name="adj" fmla="val 16855"/>
            </a:avLst>
          </a:prstGeom>
          <a:solidFill>
            <a:srgbClr val="ECE8E2"/>
          </a:solidFill>
          <a:ln/>
        </p:spPr>
      </p:sp>
      <p:sp>
        <p:nvSpPr>
          <p:cNvPr id="32" name="Text 30"/>
          <p:cNvSpPr/>
          <p:nvPr/>
        </p:nvSpPr>
        <p:spPr>
          <a:xfrm>
            <a:off x="965200" y="4538663"/>
            <a:ext cx="6226556"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C1E23"/>
                </a:solidFill>
                <a:latin typeface="Poppins" pitchFamily="34" charset="0"/>
                <a:ea typeface="Poppins" pitchFamily="34" charset="-122"/>
                <a:cs typeface="Poppins" pitchFamily="34" charset="-120"/>
              </a:rPr>
              <a:t>Built-in governance:</a:t>
            </a:r>
            <a:r>
              <a:rPr lang="en-US" sz="1200" dirty="0">
                <a:solidFill>
                  <a:srgbClr val="1C1E23"/>
                </a:solidFill>
                <a:latin typeface="Poppins" pitchFamily="34" charset="0"/>
                <a:ea typeface="Poppins" pitchFamily="34" charset="-122"/>
                <a:cs typeface="Poppins" pitchFamily="34" charset="-120"/>
              </a:rPr>
              <a:t> OneLake catalog, workspace roles, OneLake security</a:t>
            </a:r>
            <a:endParaRPr lang="en-US" sz="1200" dirty="0"/>
          </a:p>
        </p:txBody>
      </p:sp>
      <p:sp>
        <p:nvSpPr>
          <p:cNvPr id="33" name="Shape 31"/>
          <p:cNvSpPr/>
          <p:nvPr/>
        </p:nvSpPr>
        <p:spPr>
          <a:xfrm>
            <a:off x="7467600" y="1747441"/>
            <a:ext cx="3911600" cy="4094559"/>
          </a:xfrm>
          <a:prstGeom prst="roundRect">
            <a:avLst>
              <a:gd name="adj" fmla="val 1948"/>
            </a:avLst>
          </a:prstGeom>
          <a:solidFill>
            <a:srgbClr val="FFFFFF"/>
          </a:solidFill>
          <a:ln/>
        </p:spPr>
      </p:sp>
      <p:sp>
        <p:nvSpPr>
          <p:cNvPr id="34" name="Shape 32"/>
          <p:cNvSpPr/>
          <p:nvPr/>
        </p:nvSpPr>
        <p:spPr>
          <a:xfrm>
            <a:off x="7467600" y="1772841"/>
            <a:ext cx="3911600" cy="0"/>
          </a:xfrm>
          <a:prstGeom prst="line">
            <a:avLst/>
          </a:prstGeom>
          <a:noFill/>
          <a:ln w="50800">
            <a:solidFill>
              <a:srgbClr val="F26522"/>
            </a:solidFill>
            <a:prstDash val="solid"/>
          </a:ln>
        </p:spPr>
      </p:sp>
      <p:sp>
        <p:nvSpPr>
          <p:cNvPr id="35" name="Text 33"/>
          <p:cNvSpPr/>
          <p:nvPr/>
        </p:nvSpPr>
        <p:spPr>
          <a:xfrm>
            <a:off x="7721600" y="2052241"/>
            <a:ext cx="350570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1E23"/>
                </a:solidFill>
                <a:latin typeface="Poppins" pitchFamily="34" charset="0"/>
                <a:ea typeface="Poppins" pitchFamily="34" charset="-122"/>
                <a:cs typeface="Poppins" pitchFamily="34" charset="-120"/>
              </a:rPr>
              <a:t>Is Purview necessary?</a:t>
            </a:r>
            <a:endParaRPr lang="en-US" sz="1600" dirty="0"/>
          </a:p>
        </p:txBody>
      </p:sp>
      <p:sp>
        <p:nvSpPr>
          <p:cNvPr id="36" name="Shape 34"/>
          <p:cNvSpPr/>
          <p:nvPr/>
        </p:nvSpPr>
        <p:spPr>
          <a:xfrm>
            <a:off x="7721600" y="2473871"/>
            <a:ext cx="3403600" cy="340320"/>
          </a:xfrm>
          <a:prstGeom prst="roundRect">
            <a:avLst>
              <a:gd name="adj" fmla="val 14927"/>
            </a:avLst>
          </a:prstGeom>
          <a:solidFill>
            <a:srgbClr val="1C1E23"/>
          </a:solidFill>
          <a:ln/>
        </p:spPr>
      </p:sp>
      <p:sp>
        <p:nvSpPr>
          <p:cNvPr id="37" name="Text 35"/>
          <p:cNvSpPr/>
          <p:nvPr/>
        </p:nvSpPr>
        <p:spPr>
          <a:xfrm>
            <a:off x="7848600" y="2537371"/>
            <a:ext cx="32440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7F5F2"/>
                </a:solidFill>
                <a:latin typeface="Poppins" pitchFamily="34" charset="0"/>
                <a:ea typeface="Poppins" pitchFamily="34" charset="-122"/>
                <a:cs typeface="Poppins" pitchFamily="34" charset="-120"/>
              </a:rPr>
              <a:t>Recommended · lowest effort</a:t>
            </a:r>
            <a:endParaRPr lang="en-US" sz="1200" dirty="0"/>
          </a:p>
        </p:txBody>
      </p:sp>
      <p:sp>
        <p:nvSpPr>
          <p:cNvPr id="38" name="Shape 36"/>
          <p:cNvSpPr/>
          <p:nvPr/>
        </p:nvSpPr>
        <p:spPr>
          <a:xfrm>
            <a:off x="7734300" y="2991991"/>
            <a:ext cx="0" cy="396180"/>
          </a:xfrm>
          <a:prstGeom prst="line">
            <a:avLst/>
          </a:prstGeom>
          <a:noFill/>
          <a:ln w="25400">
            <a:solidFill>
              <a:srgbClr val="F26522"/>
            </a:solidFill>
            <a:prstDash val="solid"/>
          </a:ln>
        </p:spPr>
      </p:sp>
      <p:sp>
        <p:nvSpPr>
          <p:cNvPr id="39" name="Text 37"/>
          <p:cNvSpPr/>
          <p:nvPr/>
        </p:nvSpPr>
        <p:spPr>
          <a:xfrm>
            <a:off x="7874000" y="2991991"/>
            <a:ext cx="334873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C1E23"/>
                </a:solidFill>
                <a:latin typeface="Poppins" pitchFamily="34" charset="0"/>
                <a:ea typeface="Poppins" pitchFamily="34" charset="-122"/>
                <a:cs typeface="Poppins" pitchFamily="34" charset="-120"/>
              </a:rPr>
              <a:t>Inside Fabric, the OneLake catalog already gives discovery and lineage.</a:t>
            </a:r>
            <a:endParaRPr lang="en-US" sz="1200" dirty="0"/>
          </a:p>
        </p:txBody>
      </p:sp>
      <p:sp>
        <p:nvSpPr>
          <p:cNvPr id="40" name="Shape 38"/>
          <p:cNvSpPr/>
          <p:nvPr/>
        </p:nvSpPr>
        <p:spPr>
          <a:xfrm>
            <a:off x="7734300" y="3565971"/>
            <a:ext cx="0" cy="396180"/>
          </a:xfrm>
          <a:prstGeom prst="line">
            <a:avLst/>
          </a:prstGeom>
          <a:noFill/>
          <a:ln w="25400">
            <a:solidFill>
              <a:srgbClr val="F26522"/>
            </a:solidFill>
            <a:prstDash val="solid"/>
          </a:ln>
        </p:spPr>
      </p:sp>
      <p:sp>
        <p:nvSpPr>
          <p:cNvPr id="41" name="Text 39"/>
          <p:cNvSpPr/>
          <p:nvPr/>
        </p:nvSpPr>
        <p:spPr>
          <a:xfrm>
            <a:off x="7874000" y="3565971"/>
            <a:ext cx="334873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C1E23"/>
                </a:solidFill>
                <a:latin typeface="Poppins" pitchFamily="34" charset="0"/>
                <a:ea typeface="Poppins" pitchFamily="34" charset="-122"/>
                <a:cs typeface="Poppins" pitchFamily="34" charset="-120"/>
              </a:rPr>
              <a:t>Purview adds labels, DLP and data quality that travel with the data.</a:t>
            </a:r>
            <a:endParaRPr lang="en-US" sz="1200" dirty="0"/>
          </a:p>
        </p:txBody>
      </p:sp>
      <p:sp>
        <p:nvSpPr>
          <p:cNvPr id="42" name="Shape 40"/>
          <p:cNvSpPr/>
          <p:nvPr/>
        </p:nvSpPr>
        <p:spPr>
          <a:xfrm>
            <a:off x="7734300" y="4139952"/>
            <a:ext cx="0" cy="396180"/>
          </a:xfrm>
          <a:prstGeom prst="line">
            <a:avLst/>
          </a:prstGeom>
          <a:noFill/>
          <a:ln w="25400">
            <a:solidFill>
              <a:srgbClr val="F26522"/>
            </a:solidFill>
            <a:prstDash val="solid"/>
          </a:ln>
        </p:spPr>
      </p:sp>
      <p:sp>
        <p:nvSpPr>
          <p:cNvPr id="43" name="Text 41"/>
          <p:cNvSpPr/>
          <p:nvPr/>
        </p:nvSpPr>
        <p:spPr>
          <a:xfrm>
            <a:off x="7874000" y="4139952"/>
            <a:ext cx="334873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C1E23"/>
                </a:solidFill>
                <a:latin typeface="Poppins" pitchFamily="34" charset="0"/>
                <a:ea typeface="Poppins" pitchFamily="34" charset="-122"/>
                <a:cs typeface="Poppins" pitchFamily="34" charset="-120"/>
              </a:rPr>
              <a:t>Essential once data is regulated or lives outside Fabric.</a:t>
            </a:r>
            <a:endParaRPr lang="en-US" sz="1200" dirty="0"/>
          </a:p>
        </p:txBody>
      </p:sp>
      <p:sp>
        <p:nvSpPr>
          <p:cNvPr id="44" name="Text 42"/>
          <p:cNvSpPr/>
          <p:nvPr/>
        </p:nvSpPr>
        <p:spPr>
          <a:xfrm>
            <a:off x="812800" y="6238280"/>
            <a:ext cx="238866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5F68"/>
                </a:solidFill>
                <a:latin typeface="Poppins" pitchFamily="34" charset="0"/>
                <a:ea typeface="Poppins" pitchFamily="34" charset="-122"/>
                <a:cs typeface="Poppins" pitchFamily="34" charset="-120"/>
              </a:rPr>
              <a:t>EXL</a:t>
            </a:r>
            <a:r>
              <a:rPr lang="en-US" sz="1200" dirty="0">
                <a:solidFill>
                  <a:srgbClr val="5A5F68"/>
                </a:solidFill>
                <a:latin typeface="Poppins" pitchFamily="34" charset="0"/>
                <a:ea typeface="Poppins" pitchFamily="34" charset="-122"/>
                <a:cs typeface="Poppins" pitchFamily="34" charset="-120"/>
              </a:rPr>
              <a:t> · Data governance options</a:t>
            </a:r>
            <a:endParaRPr lang="en-US" sz="1200" dirty="0"/>
          </a:p>
        </p:txBody>
      </p:sp>
      <p:sp>
        <p:nvSpPr>
          <p:cNvPr id="45" name="Text 43"/>
          <p:cNvSpPr/>
          <p:nvPr/>
        </p:nvSpPr>
        <p:spPr>
          <a:xfrm>
            <a:off x="11086703" y="6238280"/>
            <a:ext cx="34329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F68"/>
                </a:solidFill>
                <a:latin typeface="Poppins" pitchFamily="34" charset="0"/>
                <a:ea typeface="Poppins" pitchFamily="34" charset="-122"/>
                <a:cs typeface="Poppins" pitchFamily="34" charset="-120"/>
              </a:rPr>
              <a:t>1 / 3</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2"/>
        </a:solidFill>
      </p:bgPr>
    </p:bg>
    <p:spTree>
      <p:nvGrpSpPr>
        <p:cNvPr id="1" name=""/>
        <p:cNvGrpSpPr/>
        <p:nvPr/>
      </p:nvGrpSpPr>
      <p:grpSpPr>
        <a:xfrm>
          <a:off x="0" y="0"/>
          <a:ext cx="0" cy="0"/>
          <a:chOff x="0" y="0"/>
          <a:chExt cx="0" cy="0"/>
        </a:xfrm>
      </p:grpSpPr>
      <p:sp>
        <p:nvSpPr>
          <p:cNvPr id="2" name="Shape 0"/>
          <p:cNvSpPr/>
          <p:nvPr/>
        </p:nvSpPr>
        <p:spPr>
          <a:xfrm>
            <a:off x="0" y="0"/>
            <a:ext cx="12192000" cy="101600"/>
          </a:xfrm>
          <a:prstGeom prst="rect">
            <a:avLst/>
          </a:prstGeom>
          <a:solidFill>
            <a:srgbClr val="F26522"/>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0C"/>
                </a:solidFill>
                <a:latin typeface="Poppins" pitchFamily="34" charset="0"/>
                <a:ea typeface="Poppins" pitchFamily="34" charset="-122"/>
                <a:cs typeface="Poppins" pitchFamily="34" charset="-120"/>
              </a:rPr>
              <a:t>02 · AZURE DATABRICKS</a:t>
            </a:r>
            <a:endParaRPr lang="en-US" sz="1200" dirty="0"/>
          </a:p>
        </p:txBody>
      </p:sp>
      <p:sp>
        <p:nvSpPr>
          <p:cNvPr id="4" name="Text 2"/>
          <p:cNvSpPr/>
          <p:nvPr/>
        </p:nvSpPr>
        <p:spPr>
          <a:xfrm>
            <a:off x="812800" y="11023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C1E23"/>
                </a:solidFill>
                <a:latin typeface="Poppins" pitchFamily="34" charset="0"/>
                <a:ea typeface="Poppins" pitchFamily="34" charset="-122"/>
                <a:cs typeface="Poppins" pitchFamily="34" charset="-120"/>
              </a:rPr>
              <a:t>Databricks: Unity Catalog first, Purview on top</a:t>
            </a:r>
            <a:endParaRPr lang="en-US" sz="2800" dirty="0"/>
          </a:p>
        </p:txBody>
      </p:sp>
      <p:sp>
        <p:nvSpPr>
          <p:cNvPr id="5" name="Shape 3"/>
          <p:cNvSpPr/>
          <p:nvPr/>
        </p:nvSpPr>
        <p:spPr>
          <a:xfrm>
            <a:off x="812800" y="1747441"/>
            <a:ext cx="6350000" cy="960041"/>
          </a:xfrm>
          <a:prstGeom prst="roundRect">
            <a:avLst>
              <a:gd name="adj" fmla="val 7937"/>
            </a:avLst>
          </a:prstGeom>
          <a:solidFill>
            <a:srgbClr val="1C1E23"/>
          </a:solidFill>
          <a:ln/>
        </p:spPr>
      </p:sp>
      <p:sp>
        <p:nvSpPr>
          <p:cNvPr id="6" name="Text 4"/>
          <p:cNvSpPr/>
          <p:nvPr/>
        </p:nvSpPr>
        <p:spPr>
          <a:xfrm>
            <a:off x="990600" y="1925241"/>
            <a:ext cx="617423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7F5F2"/>
                </a:solidFill>
                <a:latin typeface="Poppins" pitchFamily="34" charset="0"/>
                <a:ea typeface="Poppins" pitchFamily="34" charset="-122"/>
                <a:cs typeface="Poppins" pitchFamily="34" charset="-120"/>
              </a:rPr>
              <a:t>Microsoft Purview </a:t>
            </a:r>
            <a:r>
              <a:rPr lang="en-US" sz="1400" b="1" dirty="0">
                <a:solidFill>
                  <a:srgbClr val="F26522"/>
                </a:solidFill>
                <a:latin typeface="Poppins" pitchFamily="34" charset="0"/>
                <a:ea typeface="Poppins" pitchFamily="34" charset="-122"/>
                <a:cs typeface="Poppins" pitchFamily="34" charset="-120"/>
              </a:rPr>
              <a:t>· governance layer</a:t>
            </a:r>
            <a:endParaRPr lang="en-US" sz="1400" dirty="0"/>
          </a:p>
        </p:txBody>
      </p:sp>
      <p:sp>
        <p:nvSpPr>
          <p:cNvPr id="7" name="Shape 5"/>
          <p:cNvSpPr/>
          <p:nvPr/>
        </p:nvSpPr>
        <p:spPr>
          <a:xfrm>
            <a:off x="990600" y="2240161"/>
            <a:ext cx="1448098" cy="289520"/>
          </a:xfrm>
          <a:prstGeom prst="roundRect">
            <a:avLst>
              <a:gd name="adj" fmla="val 50000"/>
            </a:avLst>
          </a:prstGeom>
          <a:solidFill>
            <a:srgbClr val="F26522"/>
          </a:solidFill>
          <a:ln/>
        </p:spPr>
      </p:sp>
      <p:sp>
        <p:nvSpPr>
          <p:cNvPr id="8" name="Text 6"/>
          <p:cNvSpPr/>
          <p:nvPr/>
        </p:nvSpPr>
        <p:spPr>
          <a:xfrm>
            <a:off x="1117600" y="2278261"/>
            <a:ext cx="12448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1E23"/>
                </a:solidFill>
                <a:latin typeface="Poppins" pitchFamily="34" charset="0"/>
                <a:ea typeface="Poppins" pitchFamily="34" charset="-122"/>
                <a:cs typeface="Poppins" pitchFamily="34" charset="-120"/>
              </a:rPr>
              <a:t>Unified Catalog</a:t>
            </a:r>
            <a:endParaRPr lang="en-US" sz="1200" dirty="0"/>
          </a:p>
        </p:txBody>
      </p:sp>
      <p:sp>
        <p:nvSpPr>
          <p:cNvPr id="9" name="Shape 7"/>
          <p:cNvSpPr/>
          <p:nvPr/>
        </p:nvSpPr>
        <p:spPr>
          <a:xfrm>
            <a:off x="2514898" y="2240161"/>
            <a:ext cx="1619994" cy="289520"/>
          </a:xfrm>
          <a:prstGeom prst="roundRect">
            <a:avLst>
              <a:gd name="adj" fmla="val 50000"/>
            </a:avLst>
          </a:prstGeom>
          <a:solidFill>
            <a:srgbClr val="F26522"/>
          </a:solidFill>
          <a:ln/>
        </p:spPr>
      </p:sp>
      <p:sp>
        <p:nvSpPr>
          <p:cNvPr id="10" name="Text 8"/>
          <p:cNvSpPr/>
          <p:nvPr/>
        </p:nvSpPr>
        <p:spPr>
          <a:xfrm>
            <a:off x="2641898" y="2278261"/>
            <a:ext cx="14167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1E23"/>
                </a:solidFill>
                <a:latin typeface="Poppins" pitchFamily="34" charset="0"/>
                <a:ea typeface="Poppins" pitchFamily="34" charset="-122"/>
                <a:cs typeface="Poppins" pitchFamily="34" charset="-120"/>
              </a:rPr>
              <a:t>Business glossary</a:t>
            </a:r>
            <a:endParaRPr lang="en-US" sz="1200" dirty="0"/>
          </a:p>
        </p:txBody>
      </p:sp>
      <p:sp>
        <p:nvSpPr>
          <p:cNvPr id="11" name="Shape 9"/>
          <p:cNvSpPr/>
          <p:nvPr/>
        </p:nvSpPr>
        <p:spPr>
          <a:xfrm>
            <a:off x="4211092" y="2240161"/>
            <a:ext cx="1297037" cy="289520"/>
          </a:xfrm>
          <a:prstGeom prst="roundRect">
            <a:avLst>
              <a:gd name="adj" fmla="val 50000"/>
            </a:avLst>
          </a:prstGeom>
          <a:solidFill>
            <a:srgbClr val="F26522"/>
          </a:solidFill>
          <a:ln/>
        </p:spPr>
      </p:sp>
      <p:sp>
        <p:nvSpPr>
          <p:cNvPr id="12" name="Text 10"/>
          <p:cNvSpPr/>
          <p:nvPr/>
        </p:nvSpPr>
        <p:spPr>
          <a:xfrm>
            <a:off x="4338092" y="2278261"/>
            <a:ext cx="10938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1E23"/>
                </a:solidFill>
                <a:latin typeface="Poppins" pitchFamily="34" charset="0"/>
                <a:ea typeface="Poppins" pitchFamily="34" charset="-122"/>
                <a:cs typeface="Poppins" pitchFamily="34" charset="-120"/>
              </a:rPr>
              <a:t>Classification</a:t>
            </a:r>
            <a:endParaRPr lang="en-US" sz="1200" dirty="0"/>
          </a:p>
        </p:txBody>
      </p:sp>
      <p:sp>
        <p:nvSpPr>
          <p:cNvPr id="13" name="Shape 11"/>
          <p:cNvSpPr/>
          <p:nvPr/>
        </p:nvSpPr>
        <p:spPr>
          <a:xfrm>
            <a:off x="5584329" y="2240161"/>
            <a:ext cx="1196479" cy="289520"/>
          </a:xfrm>
          <a:prstGeom prst="roundRect">
            <a:avLst>
              <a:gd name="adj" fmla="val 50000"/>
            </a:avLst>
          </a:prstGeom>
          <a:solidFill>
            <a:srgbClr val="F26522"/>
          </a:solidFill>
          <a:ln/>
        </p:spPr>
      </p:sp>
      <p:sp>
        <p:nvSpPr>
          <p:cNvPr id="14" name="Text 12"/>
          <p:cNvSpPr/>
          <p:nvPr/>
        </p:nvSpPr>
        <p:spPr>
          <a:xfrm>
            <a:off x="5711329" y="2278261"/>
            <a:ext cx="9932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1E23"/>
                </a:solidFill>
                <a:latin typeface="Poppins" pitchFamily="34" charset="0"/>
                <a:ea typeface="Poppins" pitchFamily="34" charset="-122"/>
                <a:cs typeface="Poppins" pitchFamily="34" charset="-120"/>
              </a:rPr>
              <a:t>Data quality</a:t>
            </a:r>
            <a:endParaRPr lang="en-US" sz="1200" dirty="0"/>
          </a:p>
        </p:txBody>
      </p:sp>
      <p:sp>
        <p:nvSpPr>
          <p:cNvPr id="15" name="Text 13"/>
          <p:cNvSpPr/>
          <p:nvPr/>
        </p:nvSpPr>
        <p:spPr>
          <a:xfrm>
            <a:off x="812800" y="2834481"/>
            <a:ext cx="65405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20C"/>
                </a:solidFill>
                <a:latin typeface="Poppins" pitchFamily="34" charset="0"/>
                <a:ea typeface="Poppins" pitchFamily="34" charset="-122"/>
                <a:cs typeface="Poppins" pitchFamily="34" charset="-120"/>
              </a:rPr>
              <a:t>▲ Connector scan: Unity Catalog metadata &amp; lineage · no enforcement</a:t>
            </a:r>
            <a:endParaRPr lang="en-US" sz="1200" dirty="0"/>
          </a:p>
        </p:txBody>
      </p:sp>
      <p:sp>
        <p:nvSpPr>
          <p:cNvPr id="16" name="Shape 14"/>
          <p:cNvSpPr/>
          <p:nvPr/>
        </p:nvSpPr>
        <p:spPr>
          <a:xfrm>
            <a:off x="815975" y="3177977"/>
            <a:ext cx="1349375" cy="1103511"/>
          </a:xfrm>
          <a:prstGeom prst="roundRect">
            <a:avLst>
              <a:gd name="adj" fmla="val 6618"/>
            </a:avLst>
          </a:prstGeom>
          <a:solidFill>
            <a:srgbClr val="FFFFFF"/>
          </a:solidFill>
          <a:ln w="6350">
            <a:solidFill>
              <a:srgbClr val="E4E0DA"/>
            </a:solidFill>
            <a:prstDash val="solid"/>
          </a:ln>
        </p:spPr>
      </p:sp>
      <p:sp>
        <p:nvSpPr>
          <p:cNvPr id="17" name="Text 15"/>
          <p:cNvSpPr/>
          <p:nvPr/>
        </p:nvSpPr>
        <p:spPr>
          <a:xfrm>
            <a:off x="920750" y="3308152"/>
            <a:ext cx="1190625"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C1E23"/>
                </a:solidFill>
                <a:latin typeface="Poppins" pitchFamily="34" charset="0"/>
                <a:ea typeface="Poppins" pitchFamily="34" charset="-122"/>
                <a:cs typeface="Poppins" pitchFamily="34" charset="-120"/>
              </a:rPr>
              <a:t>Sources</a:t>
            </a:r>
            <a:endParaRPr lang="en-US" sz="1300" dirty="0"/>
          </a:p>
        </p:txBody>
      </p:sp>
      <p:sp>
        <p:nvSpPr>
          <p:cNvPr id="18" name="Text 16"/>
          <p:cNvSpPr/>
          <p:nvPr/>
        </p:nvSpPr>
        <p:spPr>
          <a:xfrm>
            <a:off x="920750" y="3557042"/>
            <a:ext cx="1190625"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A5F68"/>
                </a:solidFill>
                <a:latin typeface="Poppins" pitchFamily="34" charset="0"/>
                <a:ea typeface="Poppins" pitchFamily="34" charset="-122"/>
                <a:cs typeface="Poppins" pitchFamily="34" charset="-120"/>
              </a:rPr>
              <a:t>On-prem, SaaS, cloud DBs</a:t>
            </a:r>
            <a:endParaRPr lang="en-US" sz="1200" dirty="0"/>
          </a:p>
        </p:txBody>
      </p:sp>
      <p:sp>
        <p:nvSpPr>
          <p:cNvPr id="19" name="Text 17"/>
          <p:cNvSpPr/>
          <p:nvPr/>
        </p:nvSpPr>
        <p:spPr>
          <a:xfrm>
            <a:off x="2219325" y="3587502"/>
            <a:ext cx="2540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26522"/>
                </a:solidFill>
                <a:latin typeface="Poppins" pitchFamily="34" charset="0"/>
                <a:ea typeface="Poppins" pitchFamily="34" charset="-122"/>
                <a:cs typeface="Poppins" pitchFamily="34" charset="-120"/>
              </a:rPr>
              <a:t>→</a:t>
            </a:r>
            <a:endParaRPr lang="en-US" sz="1600" dirty="0"/>
          </a:p>
        </p:txBody>
      </p:sp>
      <p:sp>
        <p:nvSpPr>
          <p:cNvPr id="20" name="Shape 18"/>
          <p:cNvSpPr/>
          <p:nvPr/>
        </p:nvSpPr>
        <p:spPr>
          <a:xfrm>
            <a:off x="2476500" y="3177977"/>
            <a:ext cx="1349375" cy="1103511"/>
          </a:xfrm>
          <a:prstGeom prst="roundRect">
            <a:avLst>
              <a:gd name="adj" fmla="val 6618"/>
            </a:avLst>
          </a:prstGeom>
          <a:solidFill>
            <a:srgbClr val="FFFFFF"/>
          </a:solidFill>
          <a:ln w="6350">
            <a:solidFill>
              <a:srgbClr val="E4E0DA"/>
            </a:solidFill>
            <a:prstDash val="solid"/>
          </a:ln>
        </p:spPr>
      </p:sp>
      <p:sp>
        <p:nvSpPr>
          <p:cNvPr id="21" name="Text 19"/>
          <p:cNvSpPr/>
          <p:nvPr/>
        </p:nvSpPr>
        <p:spPr>
          <a:xfrm>
            <a:off x="2581275" y="3308152"/>
            <a:ext cx="1190625"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C1E23"/>
                </a:solidFill>
                <a:latin typeface="Poppins" pitchFamily="34" charset="0"/>
                <a:ea typeface="Poppins" pitchFamily="34" charset="-122"/>
                <a:cs typeface="Poppins" pitchFamily="34" charset="-120"/>
              </a:rPr>
              <a:t>Ingest</a:t>
            </a:r>
            <a:endParaRPr lang="en-US" sz="1300" dirty="0"/>
          </a:p>
        </p:txBody>
      </p:sp>
      <p:sp>
        <p:nvSpPr>
          <p:cNvPr id="22" name="Text 20"/>
          <p:cNvSpPr/>
          <p:nvPr/>
        </p:nvSpPr>
        <p:spPr>
          <a:xfrm>
            <a:off x="2581275" y="3557042"/>
            <a:ext cx="1190625"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A5F68"/>
                </a:solidFill>
                <a:latin typeface="Poppins" pitchFamily="34" charset="0"/>
                <a:ea typeface="Poppins" pitchFamily="34" charset="-122"/>
                <a:cs typeface="Poppins" pitchFamily="34" charset="-120"/>
              </a:rPr>
              <a:t>ADF, Auto Loader</a:t>
            </a:r>
            <a:endParaRPr lang="en-US" sz="1200" dirty="0"/>
          </a:p>
        </p:txBody>
      </p:sp>
      <p:sp>
        <p:nvSpPr>
          <p:cNvPr id="23" name="Text 21"/>
          <p:cNvSpPr/>
          <p:nvPr/>
        </p:nvSpPr>
        <p:spPr>
          <a:xfrm>
            <a:off x="3879850" y="3587502"/>
            <a:ext cx="2540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26522"/>
                </a:solidFill>
                <a:latin typeface="Poppins" pitchFamily="34" charset="0"/>
                <a:ea typeface="Poppins" pitchFamily="34" charset="-122"/>
                <a:cs typeface="Poppins" pitchFamily="34" charset="-120"/>
              </a:rPr>
              <a:t>→</a:t>
            </a:r>
            <a:endParaRPr lang="en-US" sz="1600" dirty="0"/>
          </a:p>
        </p:txBody>
      </p:sp>
      <p:sp>
        <p:nvSpPr>
          <p:cNvPr id="24" name="Shape 22"/>
          <p:cNvSpPr/>
          <p:nvPr/>
        </p:nvSpPr>
        <p:spPr>
          <a:xfrm>
            <a:off x="4140200" y="3181152"/>
            <a:ext cx="1355725" cy="1097161"/>
          </a:xfrm>
          <a:prstGeom prst="roundRect">
            <a:avLst>
              <a:gd name="adj" fmla="val 6366"/>
            </a:avLst>
          </a:prstGeom>
          <a:solidFill>
            <a:srgbClr val="FDEBE1"/>
          </a:solidFill>
          <a:ln w="12700">
            <a:solidFill>
              <a:srgbClr val="F26522"/>
            </a:solidFill>
            <a:prstDash val="solid"/>
          </a:ln>
        </p:spPr>
      </p:sp>
      <p:sp>
        <p:nvSpPr>
          <p:cNvPr id="25" name="Text 23"/>
          <p:cNvSpPr/>
          <p:nvPr/>
        </p:nvSpPr>
        <p:spPr>
          <a:xfrm>
            <a:off x="4248150" y="3314502"/>
            <a:ext cx="1190625"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C1E23"/>
                </a:solidFill>
                <a:latin typeface="Poppins" pitchFamily="34" charset="0"/>
                <a:ea typeface="Poppins" pitchFamily="34" charset="-122"/>
                <a:cs typeface="Poppins" pitchFamily="34" charset="-120"/>
              </a:rPr>
              <a:t>Lakehouse</a:t>
            </a:r>
            <a:endParaRPr lang="en-US" sz="1300" dirty="0"/>
          </a:p>
        </p:txBody>
      </p:sp>
      <p:sp>
        <p:nvSpPr>
          <p:cNvPr id="26" name="Text 24"/>
          <p:cNvSpPr/>
          <p:nvPr/>
        </p:nvSpPr>
        <p:spPr>
          <a:xfrm>
            <a:off x="4248150" y="3563392"/>
            <a:ext cx="1190625"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C1E23"/>
                </a:solidFill>
                <a:latin typeface="Poppins" pitchFamily="34" charset="0"/>
                <a:ea typeface="Poppins" pitchFamily="34" charset="-122"/>
                <a:cs typeface="Poppins" pitchFamily="34" charset="-120"/>
              </a:rPr>
              <a:t>ADLS + Delta, medallion</a:t>
            </a:r>
            <a:endParaRPr lang="en-US" sz="1200" dirty="0"/>
          </a:p>
        </p:txBody>
      </p:sp>
      <p:sp>
        <p:nvSpPr>
          <p:cNvPr id="27" name="Text 25"/>
          <p:cNvSpPr/>
          <p:nvPr/>
        </p:nvSpPr>
        <p:spPr>
          <a:xfrm>
            <a:off x="5553075" y="3587502"/>
            <a:ext cx="2540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26522"/>
                </a:solidFill>
                <a:latin typeface="Poppins" pitchFamily="34" charset="0"/>
                <a:ea typeface="Poppins" pitchFamily="34" charset="-122"/>
                <a:cs typeface="Poppins" pitchFamily="34" charset="-120"/>
              </a:rPr>
              <a:t>→</a:t>
            </a:r>
            <a:endParaRPr lang="en-US" sz="1600" dirty="0"/>
          </a:p>
        </p:txBody>
      </p:sp>
      <p:sp>
        <p:nvSpPr>
          <p:cNvPr id="28" name="Shape 26"/>
          <p:cNvSpPr/>
          <p:nvPr/>
        </p:nvSpPr>
        <p:spPr>
          <a:xfrm>
            <a:off x="5810250" y="3177977"/>
            <a:ext cx="1349375" cy="1103511"/>
          </a:xfrm>
          <a:prstGeom prst="roundRect">
            <a:avLst>
              <a:gd name="adj" fmla="val 6618"/>
            </a:avLst>
          </a:prstGeom>
          <a:solidFill>
            <a:srgbClr val="FFFFFF"/>
          </a:solidFill>
          <a:ln w="6350">
            <a:solidFill>
              <a:srgbClr val="E4E0DA"/>
            </a:solidFill>
            <a:prstDash val="solid"/>
          </a:ln>
        </p:spPr>
      </p:sp>
      <p:sp>
        <p:nvSpPr>
          <p:cNvPr id="29" name="Text 27"/>
          <p:cNvSpPr/>
          <p:nvPr/>
        </p:nvSpPr>
        <p:spPr>
          <a:xfrm>
            <a:off x="5915025" y="3308152"/>
            <a:ext cx="1190625"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C1E23"/>
                </a:solidFill>
                <a:latin typeface="Poppins" pitchFamily="34" charset="0"/>
                <a:ea typeface="Poppins" pitchFamily="34" charset="-122"/>
                <a:cs typeface="Poppins" pitchFamily="34" charset="-120"/>
              </a:rPr>
              <a:t>Consume</a:t>
            </a:r>
            <a:endParaRPr lang="en-US" sz="1300" dirty="0"/>
          </a:p>
        </p:txBody>
      </p:sp>
      <p:sp>
        <p:nvSpPr>
          <p:cNvPr id="30" name="Text 28"/>
          <p:cNvSpPr/>
          <p:nvPr/>
        </p:nvSpPr>
        <p:spPr>
          <a:xfrm>
            <a:off x="5915025" y="3557042"/>
            <a:ext cx="1190625"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A5F68"/>
                </a:solidFill>
                <a:latin typeface="Poppins" pitchFamily="34" charset="0"/>
                <a:ea typeface="Poppins" pitchFamily="34" charset="-122"/>
                <a:cs typeface="Poppins" pitchFamily="34" charset="-120"/>
              </a:rPr>
              <a:t>Power BI, DBSQL, ML</a:t>
            </a:r>
            <a:endParaRPr lang="en-US" sz="1200" dirty="0"/>
          </a:p>
        </p:txBody>
      </p:sp>
      <p:sp>
        <p:nvSpPr>
          <p:cNvPr id="31" name="Shape 29"/>
          <p:cNvSpPr/>
          <p:nvPr/>
        </p:nvSpPr>
        <p:spPr>
          <a:xfrm>
            <a:off x="812800" y="4411663"/>
            <a:ext cx="6350000" cy="452090"/>
          </a:xfrm>
          <a:prstGeom prst="roundRect">
            <a:avLst>
              <a:gd name="adj" fmla="val 16855"/>
            </a:avLst>
          </a:prstGeom>
          <a:solidFill>
            <a:srgbClr val="ECE8E2"/>
          </a:solidFill>
          <a:ln/>
        </p:spPr>
      </p:sp>
      <p:sp>
        <p:nvSpPr>
          <p:cNvPr id="32" name="Text 30"/>
          <p:cNvSpPr/>
          <p:nvPr/>
        </p:nvSpPr>
        <p:spPr>
          <a:xfrm>
            <a:off x="965200" y="4538663"/>
            <a:ext cx="6226556"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C1E23"/>
                </a:solidFill>
                <a:latin typeface="Poppins" pitchFamily="34" charset="0"/>
                <a:ea typeface="Poppins" pitchFamily="34" charset="-122"/>
                <a:cs typeface="Poppins" pitchFamily="34" charset="-120"/>
              </a:rPr>
              <a:t>Built-in governance:</a:t>
            </a:r>
            <a:r>
              <a:rPr lang="en-US" sz="1200" dirty="0">
                <a:solidFill>
                  <a:srgbClr val="1C1E23"/>
                </a:solidFill>
                <a:latin typeface="Poppins" pitchFamily="34" charset="0"/>
                <a:ea typeface="Poppins" pitchFamily="34" charset="-122"/>
                <a:cs typeface="Poppins" pitchFamily="34" charset="-120"/>
              </a:rPr>
              <a:t> Unity Catalog – access control, lineage, audit, tags</a:t>
            </a:r>
            <a:endParaRPr lang="en-US" sz="1200" dirty="0"/>
          </a:p>
        </p:txBody>
      </p:sp>
      <p:sp>
        <p:nvSpPr>
          <p:cNvPr id="33" name="Shape 31"/>
          <p:cNvSpPr/>
          <p:nvPr/>
        </p:nvSpPr>
        <p:spPr>
          <a:xfrm>
            <a:off x="7467600" y="1747441"/>
            <a:ext cx="3911600" cy="4094559"/>
          </a:xfrm>
          <a:prstGeom prst="roundRect">
            <a:avLst>
              <a:gd name="adj" fmla="val 1948"/>
            </a:avLst>
          </a:prstGeom>
          <a:solidFill>
            <a:srgbClr val="FFFFFF"/>
          </a:solidFill>
          <a:ln/>
        </p:spPr>
      </p:sp>
      <p:sp>
        <p:nvSpPr>
          <p:cNvPr id="34" name="Shape 32"/>
          <p:cNvSpPr/>
          <p:nvPr/>
        </p:nvSpPr>
        <p:spPr>
          <a:xfrm>
            <a:off x="7467600" y="1772841"/>
            <a:ext cx="3911600" cy="0"/>
          </a:xfrm>
          <a:prstGeom prst="line">
            <a:avLst/>
          </a:prstGeom>
          <a:noFill/>
          <a:ln w="50800">
            <a:solidFill>
              <a:srgbClr val="F26522"/>
            </a:solidFill>
            <a:prstDash val="solid"/>
          </a:ln>
        </p:spPr>
      </p:sp>
      <p:sp>
        <p:nvSpPr>
          <p:cNvPr id="35" name="Text 33"/>
          <p:cNvSpPr/>
          <p:nvPr/>
        </p:nvSpPr>
        <p:spPr>
          <a:xfrm>
            <a:off x="7721600" y="2052241"/>
            <a:ext cx="350570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1E23"/>
                </a:solidFill>
                <a:latin typeface="Poppins" pitchFamily="34" charset="0"/>
                <a:ea typeface="Poppins" pitchFamily="34" charset="-122"/>
                <a:cs typeface="Poppins" pitchFamily="34" charset="-120"/>
              </a:rPr>
              <a:t>Is Purview necessary?</a:t>
            </a:r>
            <a:endParaRPr lang="en-US" sz="1600" dirty="0"/>
          </a:p>
        </p:txBody>
      </p:sp>
      <p:sp>
        <p:nvSpPr>
          <p:cNvPr id="36" name="Shape 34"/>
          <p:cNvSpPr/>
          <p:nvPr/>
        </p:nvSpPr>
        <p:spPr>
          <a:xfrm>
            <a:off x="7721600" y="2473871"/>
            <a:ext cx="3403600" cy="340320"/>
          </a:xfrm>
          <a:prstGeom prst="roundRect">
            <a:avLst>
              <a:gd name="adj" fmla="val 14927"/>
            </a:avLst>
          </a:prstGeom>
          <a:solidFill>
            <a:srgbClr val="1C1E23"/>
          </a:solidFill>
          <a:ln/>
        </p:spPr>
      </p:sp>
      <p:sp>
        <p:nvSpPr>
          <p:cNvPr id="37" name="Text 35"/>
          <p:cNvSpPr/>
          <p:nvPr/>
        </p:nvSpPr>
        <p:spPr>
          <a:xfrm>
            <a:off x="7848600" y="2537371"/>
            <a:ext cx="32440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7F5F2"/>
                </a:solidFill>
                <a:latin typeface="Poppins" pitchFamily="34" charset="0"/>
                <a:ea typeface="Poppins" pitchFamily="34" charset="-122"/>
                <a:cs typeface="Poppins" pitchFamily="34" charset="-120"/>
              </a:rPr>
              <a:t>Conditional · enterprise scope</a:t>
            </a:r>
            <a:endParaRPr lang="en-US" sz="1200" dirty="0"/>
          </a:p>
        </p:txBody>
      </p:sp>
      <p:sp>
        <p:nvSpPr>
          <p:cNvPr id="38" name="Shape 36"/>
          <p:cNvSpPr/>
          <p:nvPr/>
        </p:nvSpPr>
        <p:spPr>
          <a:xfrm>
            <a:off x="7734300" y="2991991"/>
            <a:ext cx="0" cy="396180"/>
          </a:xfrm>
          <a:prstGeom prst="line">
            <a:avLst/>
          </a:prstGeom>
          <a:noFill/>
          <a:ln w="25400">
            <a:solidFill>
              <a:srgbClr val="F26522"/>
            </a:solidFill>
            <a:prstDash val="solid"/>
          </a:ln>
        </p:spPr>
      </p:sp>
      <p:sp>
        <p:nvSpPr>
          <p:cNvPr id="39" name="Text 37"/>
          <p:cNvSpPr/>
          <p:nvPr/>
        </p:nvSpPr>
        <p:spPr>
          <a:xfrm>
            <a:off x="7874000" y="2991991"/>
            <a:ext cx="334873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C1E23"/>
                </a:solidFill>
                <a:latin typeface="Poppins" pitchFamily="34" charset="0"/>
                <a:ea typeface="Poppins" pitchFamily="34" charset="-122"/>
                <a:cs typeface="Poppins" pitchFamily="34" charset="-120"/>
              </a:rPr>
              <a:t>Unity Catalog already enforces access, lineage and audit.</a:t>
            </a:r>
            <a:endParaRPr lang="en-US" sz="1200" dirty="0"/>
          </a:p>
        </p:txBody>
      </p:sp>
      <p:sp>
        <p:nvSpPr>
          <p:cNvPr id="40" name="Shape 38"/>
          <p:cNvSpPr/>
          <p:nvPr/>
        </p:nvSpPr>
        <p:spPr>
          <a:xfrm>
            <a:off x="7734300" y="3565971"/>
            <a:ext cx="0" cy="396180"/>
          </a:xfrm>
          <a:prstGeom prst="line">
            <a:avLst/>
          </a:prstGeom>
          <a:noFill/>
          <a:ln w="25400">
            <a:solidFill>
              <a:srgbClr val="F26522"/>
            </a:solidFill>
            <a:prstDash val="solid"/>
          </a:ln>
        </p:spPr>
      </p:sp>
      <p:sp>
        <p:nvSpPr>
          <p:cNvPr id="41" name="Text 39"/>
          <p:cNvSpPr/>
          <p:nvPr/>
        </p:nvSpPr>
        <p:spPr>
          <a:xfrm>
            <a:off x="7874000" y="3565971"/>
            <a:ext cx="334873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C1E23"/>
                </a:solidFill>
                <a:latin typeface="Poppins" pitchFamily="34" charset="0"/>
                <a:ea typeface="Poppins" pitchFamily="34" charset="-122"/>
                <a:cs typeface="Poppins" pitchFamily="34" charset="-120"/>
              </a:rPr>
              <a:t>Purview adds one business catalog across Databricks and Power BI.</a:t>
            </a:r>
            <a:endParaRPr lang="en-US" sz="1200" dirty="0"/>
          </a:p>
        </p:txBody>
      </p:sp>
      <p:sp>
        <p:nvSpPr>
          <p:cNvPr id="42" name="Shape 40"/>
          <p:cNvSpPr/>
          <p:nvPr/>
        </p:nvSpPr>
        <p:spPr>
          <a:xfrm>
            <a:off x="7734300" y="4139952"/>
            <a:ext cx="0" cy="396180"/>
          </a:xfrm>
          <a:prstGeom prst="line">
            <a:avLst/>
          </a:prstGeom>
          <a:noFill/>
          <a:ln w="25400">
            <a:solidFill>
              <a:srgbClr val="F26522"/>
            </a:solidFill>
            <a:prstDash val="solid"/>
          </a:ln>
        </p:spPr>
      </p:sp>
      <p:sp>
        <p:nvSpPr>
          <p:cNvPr id="43" name="Text 41"/>
          <p:cNvSpPr/>
          <p:nvPr/>
        </p:nvSpPr>
        <p:spPr>
          <a:xfrm>
            <a:off x="7874000" y="4139952"/>
            <a:ext cx="334873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C1E23"/>
                </a:solidFill>
                <a:latin typeface="Poppins" pitchFamily="34" charset="0"/>
                <a:ea typeface="Poppins" pitchFamily="34" charset="-122"/>
                <a:cs typeface="Poppins" pitchFamily="34" charset="-120"/>
              </a:rPr>
              <a:t>Optional only if Databricks is the entire data estate.</a:t>
            </a:r>
            <a:endParaRPr lang="en-US" sz="1200" dirty="0"/>
          </a:p>
        </p:txBody>
      </p:sp>
      <p:sp>
        <p:nvSpPr>
          <p:cNvPr id="44" name="Text 42"/>
          <p:cNvSpPr/>
          <p:nvPr/>
        </p:nvSpPr>
        <p:spPr>
          <a:xfrm>
            <a:off x="812800" y="6238280"/>
            <a:ext cx="238866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5F68"/>
                </a:solidFill>
                <a:latin typeface="Poppins" pitchFamily="34" charset="0"/>
                <a:ea typeface="Poppins" pitchFamily="34" charset="-122"/>
                <a:cs typeface="Poppins" pitchFamily="34" charset="-120"/>
              </a:rPr>
              <a:t>EXL</a:t>
            </a:r>
            <a:r>
              <a:rPr lang="en-US" sz="1200" dirty="0">
                <a:solidFill>
                  <a:srgbClr val="5A5F68"/>
                </a:solidFill>
                <a:latin typeface="Poppins" pitchFamily="34" charset="0"/>
                <a:ea typeface="Poppins" pitchFamily="34" charset="-122"/>
                <a:cs typeface="Poppins" pitchFamily="34" charset="-120"/>
              </a:rPr>
              <a:t> · Data governance options</a:t>
            </a:r>
            <a:endParaRPr lang="en-US" sz="1200" dirty="0"/>
          </a:p>
        </p:txBody>
      </p:sp>
      <p:sp>
        <p:nvSpPr>
          <p:cNvPr id="45" name="Text 43"/>
          <p:cNvSpPr/>
          <p:nvPr/>
        </p:nvSpPr>
        <p:spPr>
          <a:xfrm>
            <a:off x="11047859" y="6238280"/>
            <a:ext cx="3821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F68"/>
                </a:solidFill>
                <a:latin typeface="Poppins" pitchFamily="34" charset="0"/>
                <a:ea typeface="Poppins" pitchFamily="34" charset="-122"/>
                <a:cs typeface="Poppins" pitchFamily="34" charset="-120"/>
              </a:rPr>
              <a:t>2 / 3</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2"/>
        </a:solidFill>
      </p:bgPr>
    </p:bg>
    <p:spTree>
      <p:nvGrpSpPr>
        <p:cNvPr id="1" name=""/>
        <p:cNvGrpSpPr/>
        <p:nvPr/>
      </p:nvGrpSpPr>
      <p:grpSpPr>
        <a:xfrm>
          <a:off x="0" y="0"/>
          <a:ext cx="0" cy="0"/>
          <a:chOff x="0" y="0"/>
          <a:chExt cx="0" cy="0"/>
        </a:xfrm>
      </p:grpSpPr>
      <p:sp>
        <p:nvSpPr>
          <p:cNvPr id="2" name="Shape 0"/>
          <p:cNvSpPr/>
          <p:nvPr/>
        </p:nvSpPr>
        <p:spPr>
          <a:xfrm>
            <a:off x="0" y="0"/>
            <a:ext cx="12192000" cy="101600"/>
          </a:xfrm>
          <a:prstGeom prst="rect">
            <a:avLst/>
          </a:prstGeom>
          <a:solidFill>
            <a:srgbClr val="F26522"/>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420C"/>
                </a:solidFill>
                <a:latin typeface="Poppins" pitchFamily="34" charset="0"/>
                <a:ea typeface="Poppins" pitchFamily="34" charset="-122"/>
                <a:cs typeface="Poppins" pitchFamily="34" charset="-120"/>
              </a:rPr>
              <a:t>03 · SNOWFLAKE</a:t>
            </a:r>
            <a:endParaRPr lang="en-US" sz="1200" dirty="0"/>
          </a:p>
        </p:txBody>
      </p:sp>
      <p:sp>
        <p:nvSpPr>
          <p:cNvPr id="4" name="Text 2"/>
          <p:cNvSpPr/>
          <p:nvPr/>
        </p:nvSpPr>
        <p:spPr>
          <a:xfrm>
            <a:off x="812800" y="11023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C1E23"/>
                </a:solidFill>
                <a:latin typeface="Poppins" pitchFamily="34" charset="0"/>
                <a:ea typeface="Poppins" pitchFamily="34" charset="-122"/>
                <a:cs typeface="Poppins" pitchFamily="34" charset="-120"/>
              </a:rPr>
              <a:t>Snowflake: Horizon enforces, Purview catalogs</a:t>
            </a:r>
            <a:endParaRPr lang="en-US" sz="2800" dirty="0"/>
          </a:p>
        </p:txBody>
      </p:sp>
      <p:sp>
        <p:nvSpPr>
          <p:cNvPr id="5" name="Shape 3"/>
          <p:cNvSpPr/>
          <p:nvPr/>
        </p:nvSpPr>
        <p:spPr>
          <a:xfrm>
            <a:off x="812800" y="1747441"/>
            <a:ext cx="6350000" cy="1325761"/>
          </a:xfrm>
          <a:prstGeom prst="roundRect">
            <a:avLst>
              <a:gd name="adj" fmla="val 5748"/>
            </a:avLst>
          </a:prstGeom>
          <a:solidFill>
            <a:srgbClr val="1C1E23"/>
          </a:solidFill>
          <a:ln/>
        </p:spPr>
      </p:sp>
      <p:sp>
        <p:nvSpPr>
          <p:cNvPr id="6" name="Text 4"/>
          <p:cNvSpPr/>
          <p:nvPr/>
        </p:nvSpPr>
        <p:spPr>
          <a:xfrm>
            <a:off x="990600" y="1925241"/>
            <a:ext cx="617423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7F5F2"/>
                </a:solidFill>
                <a:latin typeface="Poppins" pitchFamily="34" charset="0"/>
                <a:ea typeface="Poppins" pitchFamily="34" charset="-122"/>
                <a:cs typeface="Poppins" pitchFamily="34" charset="-120"/>
              </a:rPr>
              <a:t>Microsoft Purview </a:t>
            </a:r>
            <a:r>
              <a:rPr lang="en-US" sz="1400" b="1" dirty="0">
                <a:solidFill>
                  <a:srgbClr val="F26522"/>
                </a:solidFill>
                <a:latin typeface="Poppins" pitchFamily="34" charset="0"/>
                <a:ea typeface="Poppins" pitchFamily="34" charset="-122"/>
                <a:cs typeface="Poppins" pitchFamily="34" charset="-120"/>
              </a:rPr>
              <a:t>· governance layer</a:t>
            </a:r>
            <a:endParaRPr lang="en-US" sz="1400" dirty="0"/>
          </a:p>
        </p:txBody>
      </p:sp>
      <p:sp>
        <p:nvSpPr>
          <p:cNvPr id="7" name="Shape 5"/>
          <p:cNvSpPr/>
          <p:nvPr/>
        </p:nvSpPr>
        <p:spPr>
          <a:xfrm>
            <a:off x="990600" y="2240161"/>
            <a:ext cx="1448098" cy="289520"/>
          </a:xfrm>
          <a:prstGeom prst="roundRect">
            <a:avLst>
              <a:gd name="adj" fmla="val 50000"/>
            </a:avLst>
          </a:prstGeom>
          <a:solidFill>
            <a:srgbClr val="F26522"/>
          </a:solidFill>
          <a:ln/>
        </p:spPr>
      </p:sp>
      <p:sp>
        <p:nvSpPr>
          <p:cNvPr id="8" name="Text 6"/>
          <p:cNvSpPr/>
          <p:nvPr/>
        </p:nvSpPr>
        <p:spPr>
          <a:xfrm>
            <a:off x="1117600" y="2278261"/>
            <a:ext cx="12448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1E23"/>
                </a:solidFill>
                <a:latin typeface="Poppins" pitchFamily="34" charset="0"/>
                <a:ea typeface="Poppins" pitchFamily="34" charset="-122"/>
                <a:cs typeface="Poppins" pitchFamily="34" charset="-120"/>
              </a:rPr>
              <a:t>Unified Catalog</a:t>
            </a:r>
            <a:endParaRPr lang="en-US" sz="1200" dirty="0"/>
          </a:p>
        </p:txBody>
      </p:sp>
      <p:sp>
        <p:nvSpPr>
          <p:cNvPr id="9" name="Shape 7"/>
          <p:cNvSpPr/>
          <p:nvPr/>
        </p:nvSpPr>
        <p:spPr>
          <a:xfrm>
            <a:off x="2514898" y="2240161"/>
            <a:ext cx="1824335" cy="289520"/>
          </a:xfrm>
          <a:prstGeom prst="roundRect">
            <a:avLst>
              <a:gd name="adj" fmla="val 50000"/>
            </a:avLst>
          </a:prstGeom>
          <a:solidFill>
            <a:srgbClr val="F26522"/>
          </a:solidFill>
          <a:ln/>
        </p:spPr>
      </p:sp>
      <p:sp>
        <p:nvSpPr>
          <p:cNvPr id="10" name="Text 8"/>
          <p:cNvSpPr/>
          <p:nvPr/>
        </p:nvSpPr>
        <p:spPr>
          <a:xfrm>
            <a:off x="2641898" y="2278261"/>
            <a:ext cx="16211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1E23"/>
                </a:solidFill>
                <a:latin typeface="Poppins" pitchFamily="34" charset="0"/>
                <a:ea typeface="Poppins" pitchFamily="34" charset="-122"/>
                <a:cs typeface="Poppins" pitchFamily="34" charset="-120"/>
              </a:rPr>
              <a:t>Cross-cloud lineage</a:t>
            </a:r>
            <a:endParaRPr lang="en-US" sz="1200" dirty="0"/>
          </a:p>
        </p:txBody>
      </p:sp>
      <p:sp>
        <p:nvSpPr>
          <p:cNvPr id="11" name="Shape 9"/>
          <p:cNvSpPr/>
          <p:nvPr/>
        </p:nvSpPr>
        <p:spPr>
          <a:xfrm>
            <a:off x="4415433" y="2240161"/>
            <a:ext cx="1297037" cy="289520"/>
          </a:xfrm>
          <a:prstGeom prst="roundRect">
            <a:avLst>
              <a:gd name="adj" fmla="val 50000"/>
            </a:avLst>
          </a:prstGeom>
          <a:solidFill>
            <a:srgbClr val="F26522"/>
          </a:solidFill>
          <a:ln/>
        </p:spPr>
      </p:sp>
      <p:sp>
        <p:nvSpPr>
          <p:cNvPr id="12" name="Text 10"/>
          <p:cNvSpPr/>
          <p:nvPr/>
        </p:nvSpPr>
        <p:spPr>
          <a:xfrm>
            <a:off x="4542433" y="2278261"/>
            <a:ext cx="10938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1E23"/>
                </a:solidFill>
                <a:latin typeface="Poppins" pitchFamily="34" charset="0"/>
                <a:ea typeface="Poppins" pitchFamily="34" charset="-122"/>
                <a:cs typeface="Poppins" pitchFamily="34" charset="-120"/>
              </a:rPr>
              <a:t>Classification</a:t>
            </a:r>
            <a:endParaRPr lang="en-US" sz="1200" dirty="0"/>
          </a:p>
        </p:txBody>
      </p:sp>
      <p:sp>
        <p:nvSpPr>
          <p:cNvPr id="13" name="Shape 11"/>
          <p:cNvSpPr/>
          <p:nvPr/>
        </p:nvSpPr>
        <p:spPr>
          <a:xfrm>
            <a:off x="990600" y="2605881"/>
            <a:ext cx="1196479" cy="289520"/>
          </a:xfrm>
          <a:prstGeom prst="roundRect">
            <a:avLst>
              <a:gd name="adj" fmla="val 50000"/>
            </a:avLst>
          </a:prstGeom>
          <a:solidFill>
            <a:srgbClr val="F26522"/>
          </a:solidFill>
          <a:ln/>
        </p:spPr>
      </p:sp>
      <p:sp>
        <p:nvSpPr>
          <p:cNvPr id="14" name="Text 12"/>
          <p:cNvSpPr/>
          <p:nvPr/>
        </p:nvSpPr>
        <p:spPr>
          <a:xfrm>
            <a:off x="1117600" y="2643981"/>
            <a:ext cx="9932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1E23"/>
                </a:solidFill>
                <a:latin typeface="Poppins" pitchFamily="34" charset="0"/>
                <a:ea typeface="Poppins" pitchFamily="34" charset="-122"/>
                <a:cs typeface="Poppins" pitchFamily="34" charset="-120"/>
              </a:rPr>
              <a:t>Data quality</a:t>
            </a:r>
            <a:endParaRPr lang="en-US" sz="1200" dirty="0"/>
          </a:p>
        </p:txBody>
      </p:sp>
      <p:sp>
        <p:nvSpPr>
          <p:cNvPr id="15" name="Text 13"/>
          <p:cNvSpPr/>
          <p:nvPr/>
        </p:nvSpPr>
        <p:spPr>
          <a:xfrm>
            <a:off x="812800" y="3200202"/>
            <a:ext cx="65405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20C"/>
                </a:solidFill>
                <a:latin typeface="Poppins" pitchFamily="34" charset="0"/>
                <a:ea typeface="Poppins" pitchFamily="34" charset="-122"/>
                <a:cs typeface="Poppins" pitchFamily="34" charset="-120"/>
              </a:rPr>
              <a:t>▲ Connector scan: metadata &amp; lineage · policies stay in Snowflake</a:t>
            </a:r>
            <a:endParaRPr lang="en-US" sz="1200" dirty="0"/>
          </a:p>
        </p:txBody>
      </p:sp>
      <p:sp>
        <p:nvSpPr>
          <p:cNvPr id="16" name="Shape 14"/>
          <p:cNvSpPr/>
          <p:nvPr/>
        </p:nvSpPr>
        <p:spPr>
          <a:xfrm>
            <a:off x="815975" y="3543697"/>
            <a:ext cx="1349375" cy="1103511"/>
          </a:xfrm>
          <a:prstGeom prst="roundRect">
            <a:avLst>
              <a:gd name="adj" fmla="val 6618"/>
            </a:avLst>
          </a:prstGeom>
          <a:solidFill>
            <a:srgbClr val="FFFFFF"/>
          </a:solidFill>
          <a:ln w="6350">
            <a:solidFill>
              <a:srgbClr val="E4E0DA"/>
            </a:solidFill>
            <a:prstDash val="solid"/>
          </a:ln>
        </p:spPr>
      </p:sp>
      <p:sp>
        <p:nvSpPr>
          <p:cNvPr id="17" name="Text 15"/>
          <p:cNvSpPr/>
          <p:nvPr/>
        </p:nvSpPr>
        <p:spPr>
          <a:xfrm>
            <a:off x="920750" y="3673872"/>
            <a:ext cx="1190625"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C1E23"/>
                </a:solidFill>
                <a:latin typeface="Poppins" pitchFamily="34" charset="0"/>
                <a:ea typeface="Poppins" pitchFamily="34" charset="-122"/>
                <a:cs typeface="Poppins" pitchFamily="34" charset="-120"/>
              </a:rPr>
              <a:t>Sources</a:t>
            </a:r>
            <a:endParaRPr lang="en-US" sz="1300" dirty="0"/>
          </a:p>
        </p:txBody>
      </p:sp>
      <p:sp>
        <p:nvSpPr>
          <p:cNvPr id="18" name="Text 16"/>
          <p:cNvSpPr/>
          <p:nvPr/>
        </p:nvSpPr>
        <p:spPr>
          <a:xfrm>
            <a:off x="920750" y="3922762"/>
            <a:ext cx="1190625"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A5F68"/>
                </a:solidFill>
                <a:latin typeface="Poppins" pitchFamily="34" charset="0"/>
                <a:ea typeface="Poppins" pitchFamily="34" charset="-122"/>
                <a:cs typeface="Poppins" pitchFamily="34" charset="-120"/>
              </a:rPr>
              <a:t>On-prem, SaaS, cloud DBs</a:t>
            </a:r>
            <a:endParaRPr lang="en-US" sz="1200" dirty="0"/>
          </a:p>
        </p:txBody>
      </p:sp>
      <p:sp>
        <p:nvSpPr>
          <p:cNvPr id="19" name="Text 17"/>
          <p:cNvSpPr/>
          <p:nvPr/>
        </p:nvSpPr>
        <p:spPr>
          <a:xfrm>
            <a:off x="2219325" y="3953222"/>
            <a:ext cx="2540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26522"/>
                </a:solidFill>
                <a:latin typeface="Poppins" pitchFamily="34" charset="0"/>
                <a:ea typeface="Poppins" pitchFamily="34" charset="-122"/>
                <a:cs typeface="Poppins" pitchFamily="34" charset="-120"/>
              </a:rPr>
              <a:t>→</a:t>
            </a:r>
            <a:endParaRPr lang="en-US" sz="1600" dirty="0"/>
          </a:p>
        </p:txBody>
      </p:sp>
      <p:sp>
        <p:nvSpPr>
          <p:cNvPr id="20" name="Shape 18"/>
          <p:cNvSpPr/>
          <p:nvPr/>
        </p:nvSpPr>
        <p:spPr>
          <a:xfrm>
            <a:off x="2476500" y="3543697"/>
            <a:ext cx="1349375" cy="1103511"/>
          </a:xfrm>
          <a:prstGeom prst="roundRect">
            <a:avLst>
              <a:gd name="adj" fmla="val 6618"/>
            </a:avLst>
          </a:prstGeom>
          <a:solidFill>
            <a:srgbClr val="FFFFFF"/>
          </a:solidFill>
          <a:ln w="6350">
            <a:solidFill>
              <a:srgbClr val="E4E0DA"/>
            </a:solidFill>
            <a:prstDash val="solid"/>
          </a:ln>
        </p:spPr>
      </p:sp>
      <p:sp>
        <p:nvSpPr>
          <p:cNvPr id="21" name="Text 19"/>
          <p:cNvSpPr/>
          <p:nvPr/>
        </p:nvSpPr>
        <p:spPr>
          <a:xfrm>
            <a:off x="2581275" y="3673872"/>
            <a:ext cx="1190625"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C1E23"/>
                </a:solidFill>
                <a:latin typeface="Poppins" pitchFamily="34" charset="0"/>
                <a:ea typeface="Poppins" pitchFamily="34" charset="-122"/>
                <a:cs typeface="Poppins" pitchFamily="34" charset="-120"/>
              </a:rPr>
              <a:t>Ingest</a:t>
            </a:r>
            <a:endParaRPr lang="en-US" sz="1300" dirty="0"/>
          </a:p>
        </p:txBody>
      </p:sp>
      <p:sp>
        <p:nvSpPr>
          <p:cNvPr id="22" name="Text 20"/>
          <p:cNvSpPr/>
          <p:nvPr/>
        </p:nvSpPr>
        <p:spPr>
          <a:xfrm>
            <a:off x="2581275" y="3922762"/>
            <a:ext cx="1190625"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A5F68"/>
                </a:solidFill>
                <a:latin typeface="Poppins" pitchFamily="34" charset="0"/>
                <a:ea typeface="Poppins" pitchFamily="34" charset="-122"/>
                <a:cs typeface="Poppins" pitchFamily="34" charset="-120"/>
              </a:rPr>
              <a:t>ADF, Snowpipe</a:t>
            </a:r>
            <a:endParaRPr lang="en-US" sz="1200" dirty="0"/>
          </a:p>
        </p:txBody>
      </p:sp>
      <p:sp>
        <p:nvSpPr>
          <p:cNvPr id="23" name="Text 21"/>
          <p:cNvSpPr/>
          <p:nvPr/>
        </p:nvSpPr>
        <p:spPr>
          <a:xfrm>
            <a:off x="3879850" y="3953222"/>
            <a:ext cx="2540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26522"/>
                </a:solidFill>
                <a:latin typeface="Poppins" pitchFamily="34" charset="0"/>
                <a:ea typeface="Poppins" pitchFamily="34" charset="-122"/>
                <a:cs typeface="Poppins" pitchFamily="34" charset="-120"/>
              </a:rPr>
              <a:t>→</a:t>
            </a:r>
            <a:endParaRPr lang="en-US" sz="1600" dirty="0"/>
          </a:p>
        </p:txBody>
      </p:sp>
      <p:sp>
        <p:nvSpPr>
          <p:cNvPr id="24" name="Shape 22"/>
          <p:cNvSpPr/>
          <p:nvPr/>
        </p:nvSpPr>
        <p:spPr>
          <a:xfrm>
            <a:off x="4140200" y="3546872"/>
            <a:ext cx="1355725" cy="1097161"/>
          </a:xfrm>
          <a:prstGeom prst="roundRect">
            <a:avLst>
              <a:gd name="adj" fmla="val 6366"/>
            </a:avLst>
          </a:prstGeom>
          <a:solidFill>
            <a:srgbClr val="FDEBE1"/>
          </a:solidFill>
          <a:ln w="12700">
            <a:solidFill>
              <a:srgbClr val="F26522"/>
            </a:solidFill>
            <a:prstDash val="solid"/>
          </a:ln>
        </p:spPr>
      </p:sp>
      <p:sp>
        <p:nvSpPr>
          <p:cNvPr id="25" name="Text 23"/>
          <p:cNvSpPr/>
          <p:nvPr/>
        </p:nvSpPr>
        <p:spPr>
          <a:xfrm>
            <a:off x="4248150" y="3680222"/>
            <a:ext cx="1190625"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C1E23"/>
                </a:solidFill>
                <a:latin typeface="Poppins" pitchFamily="34" charset="0"/>
                <a:ea typeface="Poppins" pitchFamily="34" charset="-122"/>
                <a:cs typeface="Poppins" pitchFamily="34" charset="-120"/>
              </a:rPr>
              <a:t>Snowflake</a:t>
            </a:r>
            <a:endParaRPr lang="en-US" sz="1300" dirty="0"/>
          </a:p>
        </p:txBody>
      </p:sp>
      <p:sp>
        <p:nvSpPr>
          <p:cNvPr id="26" name="Text 24"/>
          <p:cNvSpPr/>
          <p:nvPr/>
        </p:nvSpPr>
        <p:spPr>
          <a:xfrm>
            <a:off x="4248150" y="3929112"/>
            <a:ext cx="1190625"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C1E23"/>
                </a:solidFill>
                <a:latin typeface="Poppins" pitchFamily="34" charset="0"/>
                <a:ea typeface="Poppins" pitchFamily="34" charset="-122"/>
                <a:cs typeface="Poppins" pitchFamily="34" charset="-120"/>
              </a:rPr>
              <a:t>Warehouse, Iceberg tables</a:t>
            </a:r>
            <a:endParaRPr lang="en-US" sz="1200" dirty="0"/>
          </a:p>
        </p:txBody>
      </p:sp>
      <p:sp>
        <p:nvSpPr>
          <p:cNvPr id="27" name="Text 25"/>
          <p:cNvSpPr/>
          <p:nvPr/>
        </p:nvSpPr>
        <p:spPr>
          <a:xfrm>
            <a:off x="5553075" y="3953222"/>
            <a:ext cx="2540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26522"/>
                </a:solidFill>
                <a:latin typeface="Poppins" pitchFamily="34" charset="0"/>
                <a:ea typeface="Poppins" pitchFamily="34" charset="-122"/>
                <a:cs typeface="Poppins" pitchFamily="34" charset="-120"/>
              </a:rPr>
              <a:t>→</a:t>
            </a:r>
            <a:endParaRPr lang="en-US" sz="1600" dirty="0"/>
          </a:p>
        </p:txBody>
      </p:sp>
      <p:sp>
        <p:nvSpPr>
          <p:cNvPr id="28" name="Shape 26"/>
          <p:cNvSpPr/>
          <p:nvPr/>
        </p:nvSpPr>
        <p:spPr>
          <a:xfrm>
            <a:off x="5810250" y="3543697"/>
            <a:ext cx="1349375" cy="1103511"/>
          </a:xfrm>
          <a:prstGeom prst="roundRect">
            <a:avLst>
              <a:gd name="adj" fmla="val 6618"/>
            </a:avLst>
          </a:prstGeom>
          <a:solidFill>
            <a:srgbClr val="FFFFFF"/>
          </a:solidFill>
          <a:ln w="6350">
            <a:solidFill>
              <a:srgbClr val="E4E0DA"/>
            </a:solidFill>
            <a:prstDash val="solid"/>
          </a:ln>
        </p:spPr>
      </p:sp>
      <p:sp>
        <p:nvSpPr>
          <p:cNvPr id="29" name="Text 27"/>
          <p:cNvSpPr/>
          <p:nvPr/>
        </p:nvSpPr>
        <p:spPr>
          <a:xfrm>
            <a:off x="5915025" y="3673872"/>
            <a:ext cx="1190625"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C1E23"/>
                </a:solidFill>
                <a:latin typeface="Poppins" pitchFamily="34" charset="0"/>
                <a:ea typeface="Poppins" pitchFamily="34" charset="-122"/>
                <a:cs typeface="Poppins" pitchFamily="34" charset="-120"/>
              </a:rPr>
              <a:t>Consume</a:t>
            </a:r>
            <a:endParaRPr lang="en-US" sz="1300" dirty="0"/>
          </a:p>
        </p:txBody>
      </p:sp>
      <p:sp>
        <p:nvSpPr>
          <p:cNvPr id="30" name="Text 28"/>
          <p:cNvSpPr/>
          <p:nvPr/>
        </p:nvSpPr>
        <p:spPr>
          <a:xfrm>
            <a:off x="5915025" y="3922762"/>
            <a:ext cx="1190625"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A5F68"/>
                </a:solidFill>
                <a:latin typeface="Poppins" pitchFamily="34" charset="0"/>
                <a:ea typeface="Poppins" pitchFamily="34" charset="-122"/>
                <a:cs typeface="Poppins" pitchFamily="34" charset="-120"/>
              </a:rPr>
              <a:t>Power BI, Snowsight, apps</a:t>
            </a:r>
            <a:endParaRPr lang="en-US" sz="1200" dirty="0"/>
          </a:p>
        </p:txBody>
      </p:sp>
      <p:sp>
        <p:nvSpPr>
          <p:cNvPr id="31" name="Shape 29"/>
          <p:cNvSpPr/>
          <p:nvPr/>
        </p:nvSpPr>
        <p:spPr>
          <a:xfrm>
            <a:off x="812800" y="4777383"/>
            <a:ext cx="6350000" cy="650180"/>
          </a:xfrm>
          <a:prstGeom prst="roundRect">
            <a:avLst>
              <a:gd name="adj" fmla="val 11720"/>
            </a:avLst>
          </a:prstGeom>
          <a:solidFill>
            <a:srgbClr val="ECE8E2"/>
          </a:solidFill>
          <a:ln/>
        </p:spPr>
      </p:sp>
      <p:sp>
        <p:nvSpPr>
          <p:cNvPr id="32" name="Text 30"/>
          <p:cNvSpPr/>
          <p:nvPr/>
        </p:nvSpPr>
        <p:spPr>
          <a:xfrm>
            <a:off x="965200" y="4904383"/>
            <a:ext cx="6226556" cy="42158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C1E23"/>
                </a:solidFill>
                <a:latin typeface="Poppins" pitchFamily="34" charset="0"/>
                <a:ea typeface="Poppins" pitchFamily="34" charset="-122"/>
                <a:cs typeface="Poppins" pitchFamily="34" charset="-120"/>
              </a:rPr>
              <a:t>Built-in governance:</a:t>
            </a:r>
            <a:r>
              <a:rPr lang="en-US" sz="1200" dirty="0">
                <a:solidFill>
                  <a:srgbClr val="1C1E23"/>
                </a:solidFill>
                <a:latin typeface="Poppins" pitchFamily="34" charset="0"/>
                <a:ea typeface="Poppins" pitchFamily="34" charset="-122"/>
                <a:cs typeface="Poppins" pitchFamily="34" charset="-120"/>
              </a:rPr>
              <a:t> Snowflake Horizon – masking, row access, tags, access history</a:t>
            </a:r>
            <a:endParaRPr lang="en-US" sz="1200" dirty="0"/>
          </a:p>
        </p:txBody>
      </p:sp>
      <p:sp>
        <p:nvSpPr>
          <p:cNvPr id="33" name="Shape 31"/>
          <p:cNvSpPr/>
          <p:nvPr/>
        </p:nvSpPr>
        <p:spPr>
          <a:xfrm>
            <a:off x="7467600" y="1747441"/>
            <a:ext cx="3911600" cy="4094559"/>
          </a:xfrm>
          <a:prstGeom prst="roundRect">
            <a:avLst>
              <a:gd name="adj" fmla="val 1948"/>
            </a:avLst>
          </a:prstGeom>
          <a:solidFill>
            <a:srgbClr val="FFFFFF"/>
          </a:solidFill>
          <a:ln/>
        </p:spPr>
      </p:sp>
      <p:sp>
        <p:nvSpPr>
          <p:cNvPr id="34" name="Shape 32"/>
          <p:cNvSpPr/>
          <p:nvPr/>
        </p:nvSpPr>
        <p:spPr>
          <a:xfrm>
            <a:off x="7467600" y="1772841"/>
            <a:ext cx="3911600" cy="0"/>
          </a:xfrm>
          <a:prstGeom prst="line">
            <a:avLst/>
          </a:prstGeom>
          <a:noFill/>
          <a:ln w="50800">
            <a:solidFill>
              <a:srgbClr val="F26522"/>
            </a:solidFill>
            <a:prstDash val="solid"/>
          </a:ln>
        </p:spPr>
      </p:sp>
      <p:sp>
        <p:nvSpPr>
          <p:cNvPr id="35" name="Text 33"/>
          <p:cNvSpPr/>
          <p:nvPr/>
        </p:nvSpPr>
        <p:spPr>
          <a:xfrm>
            <a:off x="7721600" y="2052241"/>
            <a:ext cx="350570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1E23"/>
                </a:solidFill>
                <a:latin typeface="Poppins" pitchFamily="34" charset="0"/>
                <a:ea typeface="Poppins" pitchFamily="34" charset="-122"/>
                <a:cs typeface="Poppins" pitchFamily="34" charset="-120"/>
              </a:rPr>
              <a:t>Is Purview necessary?</a:t>
            </a:r>
            <a:endParaRPr lang="en-US" sz="1600" dirty="0"/>
          </a:p>
        </p:txBody>
      </p:sp>
      <p:sp>
        <p:nvSpPr>
          <p:cNvPr id="36" name="Shape 34"/>
          <p:cNvSpPr/>
          <p:nvPr/>
        </p:nvSpPr>
        <p:spPr>
          <a:xfrm>
            <a:off x="7721600" y="2473871"/>
            <a:ext cx="3403600" cy="340320"/>
          </a:xfrm>
          <a:prstGeom prst="roundRect">
            <a:avLst>
              <a:gd name="adj" fmla="val 14927"/>
            </a:avLst>
          </a:prstGeom>
          <a:solidFill>
            <a:srgbClr val="1C1E23"/>
          </a:solidFill>
          <a:ln/>
        </p:spPr>
      </p:sp>
      <p:sp>
        <p:nvSpPr>
          <p:cNvPr id="37" name="Text 35"/>
          <p:cNvSpPr/>
          <p:nvPr/>
        </p:nvSpPr>
        <p:spPr>
          <a:xfrm>
            <a:off x="7848600" y="2537371"/>
            <a:ext cx="32440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7F5F2"/>
                </a:solidFill>
                <a:latin typeface="Poppins" pitchFamily="34" charset="0"/>
                <a:ea typeface="Poppins" pitchFamily="34" charset="-122"/>
                <a:cs typeface="Poppins" pitchFamily="34" charset="-120"/>
              </a:rPr>
              <a:t>Conditional · hybrid estate</a:t>
            </a:r>
            <a:endParaRPr lang="en-US" sz="1200" dirty="0"/>
          </a:p>
        </p:txBody>
      </p:sp>
      <p:sp>
        <p:nvSpPr>
          <p:cNvPr id="38" name="Shape 36"/>
          <p:cNvSpPr/>
          <p:nvPr/>
        </p:nvSpPr>
        <p:spPr>
          <a:xfrm>
            <a:off x="7734300" y="2991991"/>
            <a:ext cx="0" cy="396180"/>
          </a:xfrm>
          <a:prstGeom prst="line">
            <a:avLst/>
          </a:prstGeom>
          <a:noFill/>
          <a:ln w="25400">
            <a:solidFill>
              <a:srgbClr val="F26522"/>
            </a:solidFill>
            <a:prstDash val="solid"/>
          </a:ln>
        </p:spPr>
      </p:sp>
      <p:sp>
        <p:nvSpPr>
          <p:cNvPr id="39" name="Text 37"/>
          <p:cNvSpPr/>
          <p:nvPr/>
        </p:nvSpPr>
        <p:spPr>
          <a:xfrm>
            <a:off x="7874000" y="2991991"/>
            <a:ext cx="334873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C1E23"/>
                </a:solidFill>
                <a:latin typeface="Poppins" pitchFamily="34" charset="0"/>
                <a:ea typeface="Poppins" pitchFamily="34" charset="-122"/>
                <a:cs typeface="Poppins" pitchFamily="34" charset="-120"/>
              </a:rPr>
              <a:t>Horizon already enforces masking, row access and tagging.</a:t>
            </a:r>
            <a:endParaRPr lang="en-US" sz="1200" dirty="0"/>
          </a:p>
        </p:txBody>
      </p:sp>
      <p:sp>
        <p:nvSpPr>
          <p:cNvPr id="40" name="Shape 38"/>
          <p:cNvSpPr/>
          <p:nvPr/>
        </p:nvSpPr>
        <p:spPr>
          <a:xfrm>
            <a:off x="7734300" y="3565971"/>
            <a:ext cx="0" cy="396180"/>
          </a:xfrm>
          <a:prstGeom prst="line">
            <a:avLst/>
          </a:prstGeom>
          <a:noFill/>
          <a:ln w="25400">
            <a:solidFill>
              <a:srgbClr val="F26522"/>
            </a:solidFill>
            <a:prstDash val="solid"/>
          </a:ln>
        </p:spPr>
      </p:sp>
      <p:sp>
        <p:nvSpPr>
          <p:cNvPr id="41" name="Text 39"/>
          <p:cNvSpPr/>
          <p:nvPr/>
        </p:nvSpPr>
        <p:spPr>
          <a:xfrm>
            <a:off x="7874000" y="3565971"/>
            <a:ext cx="334873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C1E23"/>
                </a:solidFill>
                <a:latin typeface="Poppins" pitchFamily="34" charset="0"/>
                <a:ea typeface="Poppins" pitchFamily="34" charset="-122"/>
                <a:cs typeface="Poppins" pitchFamily="34" charset="-120"/>
              </a:rPr>
              <a:t>Purview adds a cross-cloud catalog and lineage into Power BI.</a:t>
            </a:r>
            <a:endParaRPr lang="en-US" sz="1200" dirty="0"/>
          </a:p>
        </p:txBody>
      </p:sp>
      <p:sp>
        <p:nvSpPr>
          <p:cNvPr id="42" name="Shape 40"/>
          <p:cNvSpPr/>
          <p:nvPr/>
        </p:nvSpPr>
        <p:spPr>
          <a:xfrm>
            <a:off x="7734300" y="4139952"/>
            <a:ext cx="0" cy="396180"/>
          </a:xfrm>
          <a:prstGeom prst="line">
            <a:avLst/>
          </a:prstGeom>
          <a:noFill/>
          <a:ln w="25400">
            <a:solidFill>
              <a:srgbClr val="F26522"/>
            </a:solidFill>
            <a:prstDash val="solid"/>
          </a:ln>
        </p:spPr>
      </p:sp>
      <p:sp>
        <p:nvSpPr>
          <p:cNvPr id="43" name="Text 41"/>
          <p:cNvSpPr/>
          <p:nvPr/>
        </p:nvSpPr>
        <p:spPr>
          <a:xfrm>
            <a:off x="7874000" y="4139952"/>
            <a:ext cx="334873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C1E23"/>
                </a:solidFill>
                <a:latin typeface="Poppins" pitchFamily="34" charset="0"/>
                <a:ea typeface="Poppins" pitchFamily="34" charset="-122"/>
                <a:cs typeface="Poppins" pitchFamily="34" charset="-120"/>
              </a:rPr>
              <a:t>Most valuable when Snowflake sits alongside Azure and M365 data.</a:t>
            </a:r>
            <a:endParaRPr lang="en-US" sz="1200" dirty="0"/>
          </a:p>
        </p:txBody>
      </p:sp>
      <p:sp>
        <p:nvSpPr>
          <p:cNvPr id="44" name="Text 42"/>
          <p:cNvSpPr/>
          <p:nvPr/>
        </p:nvSpPr>
        <p:spPr>
          <a:xfrm>
            <a:off x="812800" y="6238280"/>
            <a:ext cx="238866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5F68"/>
                </a:solidFill>
                <a:latin typeface="Poppins" pitchFamily="34" charset="0"/>
                <a:ea typeface="Poppins" pitchFamily="34" charset="-122"/>
                <a:cs typeface="Poppins" pitchFamily="34" charset="-120"/>
              </a:rPr>
              <a:t>EXL</a:t>
            </a:r>
            <a:r>
              <a:rPr lang="en-US" sz="1200" dirty="0">
                <a:solidFill>
                  <a:srgbClr val="5A5F68"/>
                </a:solidFill>
                <a:latin typeface="Poppins" pitchFamily="34" charset="0"/>
                <a:ea typeface="Poppins" pitchFamily="34" charset="-122"/>
                <a:cs typeface="Poppins" pitchFamily="34" charset="-120"/>
              </a:rPr>
              <a:t> · Data governance options</a:t>
            </a:r>
            <a:endParaRPr lang="en-US" sz="1200" dirty="0"/>
          </a:p>
        </p:txBody>
      </p:sp>
      <p:sp>
        <p:nvSpPr>
          <p:cNvPr id="45" name="Text 43"/>
          <p:cNvSpPr/>
          <p:nvPr/>
        </p:nvSpPr>
        <p:spPr>
          <a:xfrm>
            <a:off x="11045726" y="6238280"/>
            <a:ext cx="3842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F68"/>
                </a:solidFill>
                <a:latin typeface="Poppins" pitchFamily="34" charset="0"/>
                <a:ea typeface="Poppins" pitchFamily="34" charset="-122"/>
                <a:cs typeface="Poppins" pitchFamily="34" charset="-120"/>
              </a:rPr>
              <a:t>3 / 3</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Microsoft Purview? Fabric vs Databricks vs Snowflake</dc:title>
  <dc:subject>PptxGenJS Presentation</dc:subject>
  <dc:creator>PptxGenJS</dc:creator>
  <cp:lastModifiedBy>PptxGenJS</cp:lastModifiedBy>
  <cp:revision>1</cp:revision>
  <dcterms:created xsi:type="dcterms:W3CDTF">2026-09-21T11:28:26Z</dcterms:created>
  <dcterms:modified xsi:type="dcterms:W3CDTF">2026-09-21T11:28:26Z</dcterms:modified>
</cp:coreProperties>
</file>